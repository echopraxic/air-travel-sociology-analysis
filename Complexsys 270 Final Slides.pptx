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y="5143500" cx="9144000"/>
  <p:notesSz cx="6858000" cy="9144000"/>
  <p:embeddedFontLst>
    <p:embeddedFont>
      <p:font typeface="Playfair Display"/>
      <p:regular r:id="rId18"/>
      <p:bold r:id="rId19"/>
      <p:italic r:id="rId20"/>
      <p:boldItalic r:id="rId21"/>
    </p:embeddedFont>
    <p:embeddedFont>
      <p:font typeface="Lato"/>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A341320-AE18-4BC7-B98E-3FC579CD91F7}">
  <a:tblStyle styleId="{EA341320-AE18-4BC7-B98E-3FC579CD91F7}"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layfairDisplay-italic.fntdata"/><Relationship Id="rId22" Type="http://schemas.openxmlformats.org/officeDocument/2006/relationships/font" Target="fonts/Lato-regular.fntdata"/><Relationship Id="rId21" Type="http://schemas.openxmlformats.org/officeDocument/2006/relationships/font" Target="fonts/PlayfairDisplay-boldItalic.fntdata"/><Relationship Id="rId24" Type="http://schemas.openxmlformats.org/officeDocument/2006/relationships/font" Target="fonts/Lato-italic.fntdata"/><Relationship Id="rId23" Type="http://schemas.openxmlformats.org/officeDocument/2006/relationships/font" Target="fonts/Lato-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5" Type="http://schemas.openxmlformats.org/officeDocument/2006/relationships/font" Target="fonts/Lato-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font" Target="fonts/PlayfairDisplay-bold.fntdata"/><Relationship Id="rId18" Type="http://schemas.openxmlformats.org/officeDocument/2006/relationships/font" Target="fonts/PlayfairDisplay-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262c832f04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262c832f04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262c832f04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262c832f04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262c832f044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262c832f04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262c832f044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262c832f044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262c832f044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262c832f044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2a1eec04097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2a1eec04097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262c832f044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262c832f044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262c832f044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262c832f044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2a30537705c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2a30537705c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2a30537705c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2a30537705c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586721" y="0"/>
            <a:ext cx="7970700" cy="6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586721" y="5076900"/>
            <a:ext cx="7970700" cy="66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 name="Google Shape;12;p2"/>
          <p:cNvCxnSpPr/>
          <p:nvPr/>
        </p:nvCxnSpPr>
        <p:spPr>
          <a:xfrm>
            <a:off x="733219" y="2235351"/>
            <a:ext cx="385200" cy="0"/>
          </a:xfrm>
          <a:prstGeom prst="straightConnector1">
            <a:avLst/>
          </a:prstGeom>
          <a:noFill/>
          <a:ln cap="flat" cmpd="sng" w="28575">
            <a:solidFill>
              <a:schemeClr val="dk1"/>
            </a:solidFill>
            <a:prstDash val="solid"/>
            <a:round/>
            <a:headEnd len="sm" w="sm" type="none"/>
            <a:tailEnd len="sm" w="sm" type="none"/>
          </a:ln>
        </p:spPr>
      </p:cxnSp>
      <p:sp>
        <p:nvSpPr>
          <p:cNvPr id="13" name="Google Shape;13;p2"/>
          <p:cNvSpPr txBox="1"/>
          <p:nvPr>
            <p:ph type="ctrTitle"/>
          </p:nvPr>
        </p:nvSpPr>
        <p:spPr>
          <a:xfrm>
            <a:off x="630600" y="136800"/>
            <a:ext cx="7893000" cy="1853700"/>
          </a:xfrm>
          <a:prstGeom prst="rect">
            <a:avLst/>
          </a:prstGeom>
        </p:spPr>
        <p:txBody>
          <a:bodyPr anchorCtr="0" anchor="b" bIns="91425" lIns="91425" spcFirstLastPara="1" rIns="91425" wrap="square" tIns="91425">
            <a:normAutofit/>
          </a:bodyPr>
          <a:lstStyle>
            <a:lvl1pPr lvl="0">
              <a:spcBef>
                <a:spcPts val="100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4" name="Google Shape;14;p2"/>
          <p:cNvSpPr txBox="1"/>
          <p:nvPr>
            <p:ph idx="1" type="subTitle"/>
          </p:nvPr>
        </p:nvSpPr>
        <p:spPr>
          <a:xfrm>
            <a:off x="630600" y="3228375"/>
            <a:ext cx="7893000" cy="1274100"/>
          </a:xfrm>
          <a:prstGeom prst="rect">
            <a:avLst/>
          </a:prstGeom>
        </p:spPr>
        <p:txBody>
          <a:bodyPr anchorCtr="0" anchor="b" bIns="91425" lIns="91425" spcFirstLastPara="1" rIns="91425" wrap="square" tIns="91425">
            <a:normAutofit/>
          </a:bodyPr>
          <a:lstStyle>
            <a:lvl1pPr lvl="0">
              <a:lnSpc>
                <a:spcPct val="100000"/>
              </a:lnSpc>
              <a:spcBef>
                <a:spcPts val="1000"/>
              </a:spcBef>
              <a:spcAft>
                <a:spcPts val="0"/>
              </a:spcAft>
              <a:buClr>
                <a:schemeClr val="accent6"/>
              </a:buClr>
              <a:buSzPts val="2400"/>
              <a:buNone/>
              <a:defRPr sz="2400">
                <a:solidFill>
                  <a:schemeClr val="accent6"/>
                </a:solidFill>
              </a:defRPr>
            </a:lvl1pPr>
            <a:lvl2pPr lvl="1">
              <a:lnSpc>
                <a:spcPct val="100000"/>
              </a:lnSpc>
              <a:spcBef>
                <a:spcPts val="0"/>
              </a:spcBef>
              <a:spcAft>
                <a:spcPts val="0"/>
              </a:spcAft>
              <a:buClr>
                <a:schemeClr val="accent6"/>
              </a:buClr>
              <a:buSzPts val="2400"/>
              <a:buNone/>
              <a:defRPr sz="2400">
                <a:solidFill>
                  <a:schemeClr val="accent6"/>
                </a:solidFill>
              </a:defRPr>
            </a:lvl2pPr>
            <a:lvl3pPr lvl="2">
              <a:lnSpc>
                <a:spcPct val="100000"/>
              </a:lnSpc>
              <a:spcBef>
                <a:spcPts val="0"/>
              </a:spcBef>
              <a:spcAft>
                <a:spcPts val="0"/>
              </a:spcAft>
              <a:buClr>
                <a:schemeClr val="accent6"/>
              </a:buClr>
              <a:buSzPts val="2400"/>
              <a:buNone/>
              <a:defRPr sz="2400">
                <a:solidFill>
                  <a:schemeClr val="accent6"/>
                </a:solidFill>
              </a:defRPr>
            </a:lvl3pPr>
            <a:lvl4pPr lvl="3">
              <a:lnSpc>
                <a:spcPct val="100000"/>
              </a:lnSpc>
              <a:spcBef>
                <a:spcPts val="0"/>
              </a:spcBef>
              <a:spcAft>
                <a:spcPts val="0"/>
              </a:spcAft>
              <a:buClr>
                <a:schemeClr val="accent6"/>
              </a:buClr>
              <a:buSzPts val="2400"/>
              <a:buNone/>
              <a:defRPr sz="2400">
                <a:solidFill>
                  <a:schemeClr val="accent6"/>
                </a:solidFill>
              </a:defRPr>
            </a:lvl4pPr>
            <a:lvl5pPr lvl="4">
              <a:lnSpc>
                <a:spcPct val="100000"/>
              </a:lnSpc>
              <a:spcBef>
                <a:spcPts val="0"/>
              </a:spcBef>
              <a:spcAft>
                <a:spcPts val="0"/>
              </a:spcAft>
              <a:buClr>
                <a:schemeClr val="accent6"/>
              </a:buClr>
              <a:buSzPts val="2400"/>
              <a:buNone/>
              <a:defRPr sz="2400">
                <a:solidFill>
                  <a:schemeClr val="accent6"/>
                </a:solidFill>
              </a:defRPr>
            </a:lvl5pPr>
            <a:lvl6pPr lvl="5">
              <a:lnSpc>
                <a:spcPct val="100000"/>
              </a:lnSpc>
              <a:spcBef>
                <a:spcPts val="0"/>
              </a:spcBef>
              <a:spcAft>
                <a:spcPts val="0"/>
              </a:spcAft>
              <a:buClr>
                <a:schemeClr val="accent6"/>
              </a:buClr>
              <a:buSzPts val="2400"/>
              <a:buNone/>
              <a:defRPr sz="2400">
                <a:solidFill>
                  <a:schemeClr val="accent6"/>
                </a:solidFill>
              </a:defRPr>
            </a:lvl6pPr>
            <a:lvl7pPr lvl="6">
              <a:lnSpc>
                <a:spcPct val="100000"/>
              </a:lnSpc>
              <a:spcBef>
                <a:spcPts val="0"/>
              </a:spcBef>
              <a:spcAft>
                <a:spcPts val="0"/>
              </a:spcAft>
              <a:buClr>
                <a:schemeClr val="accent6"/>
              </a:buClr>
              <a:buSzPts val="2400"/>
              <a:buNone/>
              <a:defRPr sz="2400">
                <a:solidFill>
                  <a:schemeClr val="accent6"/>
                </a:solidFill>
              </a:defRPr>
            </a:lvl7pPr>
            <a:lvl8pPr lvl="7">
              <a:lnSpc>
                <a:spcPct val="100000"/>
              </a:lnSpc>
              <a:spcBef>
                <a:spcPts val="0"/>
              </a:spcBef>
              <a:spcAft>
                <a:spcPts val="0"/>
              </a:spcAft>
              <a:buClr>
                <a:schemeClr val="accent6"/>
              </a:buClr>
              <a:buSzPts val="2400"/>
              <a:buNone/>
              <a:defRPr sz="2400">
                <a:solidFill>
                  <a:schemeClr val="accent6"/>
                </a:solidFill>
              </a:defRPr>
            </a:lvl8pPr>
            <a:lvl9pPr lvl="8">
              <a:lnSpc>
                <a:spcPct val="100000"/>
              </a:lnSpc>
              <a:spcBef>
                <a:spcPts val="0"/>
              </a:spcBef>
              <a:spcAft>
                <a:spcPts val="0"/>
              </a:spcAft>
              <a:buClr>
                <a:schemeClr val="accent6"/>
              </a:buClr>
              <a:buSzPts val="2400"/>
              <a:buNone/>
              <a:defRPr sz="2400">
                <a:solidFill>
                  <a:schemeClr val="accent6"/>
                </a:solidFill>
              </a:defRPr>
            </a:lvl9pPr>
          </a:lstStyle>
          <a:p/>
        </p:txBody>
      </p:sp>
      <p:sp>
        <p:nvSpPr>
          <p:cNvPr id="15" name="Google Shape;15;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sp>
        <p:nvSpPr>
          <p:cNvPr id="17" name="Google Shape;17;p3"/>
          <p:cNvSpPr/>
          <p:nvPr/>
        </p:nvSpPr>
        <p:spPr>
          <a:xfrm>
            <a:off x="586721" y="5076900"/>
            <a:ext cx="7970700" cy="66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586721" y="0"/>
            <a:ext cx="7970700" cy="6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txBox="1"/>
          <p:nvPr>
            <p:ph type="title"/>
          </p:nvPr>
        </p:nvSpPr>
        <p:spPr>
          <a:xfrm>
            <a:off x="509550" y="1921350"/>
            <a:ext cx="8124900" cy="1300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0" name="Google Shape;2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sp>
        <p:nvSpPr>
          <p:cNvPr id="22" name="Google Shape;22;p4"/>
          <p:cNvSpPr/>
          <p:nvPr/>
        </p:nvSpPr>
        <p:spPr>
          <a:xfrm>
            <a:off x="-125" y="5045700"/>
            <a:ext cx="9144000" cy="978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3" name="Google Shape;23;p4"/>
          <p:cNvCxnSpPr/>
          <p:nvPr/>
        </p:nvCxnSpPr>
        <p:spPr>
          <a:xfrm>
            <a:off x="419425" y="1154195"/>
            <a:ext cx="385200" cy="0"/>
          </a:xfrm>
          <a:prstGeom prst="straightConnector1">
            <a:avLst/>
          </a:prstGeom>
          <a:noFill/>
          <a:ln cap="flat" cmpd="sng" w="28575">
            <a:solidFill>
              <a:schemeClr val="dk1"/>
            </a:solidFill>
            <a:prstDash val="solid"/>
            <a:round/>
            <a:headEnd len="sm" w="sm" type="none"/>
            <a:tailEnd len="sm" w="sm" type="none"/>
          </a:ln>
        </p:spPr>
      </p:cxnSp>
      <p:sp>
        <p:nvSpPr>
          <p:cNvPr id="24" name="Google Shape;24;p4"/>
          <p:cNvSpPr txBox="1"/>
          <p:nvPr>
            <p:ph type="title"/>
          </p:nvPr>
        </p:nvSpPr>
        <p:spPr>
          <a:xfrm>
            <a:off x="311700" y="372725"/>
            <a:ext cx="8520600" cy="645000"/>
          </a:xfrm>
          <a:prstGeom prst="rect">
            <a:avLst/>
          </a:prstGeom>
        </p:spPr>
        <p:txBody>
          <a:bodyPr anchorCtr="0" anchor="t"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5" name="Google Shape;25;p4"/>
          <p:cNvSpPr txBox="1"/>
          <p:nvPr>
            <p:ph idx="1" type="body"/>
          </p:nvPr>
        </p:nvSpPr>
        <p:spPr>
          <a:xfrm>
            <a:off x="311700" y="1417800"/>
            <a:ext cx="8520600" cy="31509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6" name="Google Shape;26;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7" name="Shape 27"/>
        <p:cNvGrpSpPr/>
        <p:nvPr/>
      </p:nvGrpSpPr>
      <p:grpSpPr>
        <a:xfrm>
          <a:off x="0" y="0"/>
          <a:ext cx="0" cy="0"/>
          <a:chOff x="0" y="0"/>
          <a:chExt cx="0" cy="0"/>
        </a:xfrm>
      </p:grpSpPr>
      <p:cxnSp>
        <p:nvCxnSpPr>
          <p:cNvPr id="28" name="Google Shape;28;p5"/>
          <p:cNvCxnSpPr/>
          <p:nvPr/>
        </p:nvCxnSpPr>
        <p:spPr>
          <a:xfrm>
            <a:off x="419425" y="1154195"/>
            <a:ext cx="385200" cy="0"/>
          </a:xfrm>
          <a:prstGeom prst="straightConnector1">
            <a:avLst/>
          </a:prstGeom>
          <a:noFill/>
          <a:ln cap="flat" cmpd="sng" w="28575">
            <a:solidFill>
              <a:schemeClr val="dk1"/>
            </a:solidFill>
            <a:prstDash val="solid"/>
            <a:round/>
            <a:headEnd len="sm" w="sm" type="none"/>
            <a:tailEnd len="sm" w="sm" type="none"/>
          </a:ln>
        </p:spPr>
      </p:cxnSp>
      <p:sp>
        <p:nvSpPr>
          <p:cNvPr id="29" name="Google Shape;29;p5"/>
          <p:cNvSpPr txBox="1"/>
          <p:nvPr>
            <p:ph type="title"/>
          </p:nvPr>
        </p:nvSpPr>
        <p:spPr>
          <a:xfrm>
            <a:off x="311700" y="372725"/>
            <a:ext cx="8520600" cy="645000"/>
          </a:xfrm>
          <a:prstGeom prst="rect">
            <a:avLst/>
          </a:prstGeom>
        </p:spPr>
        <p:txBody>
          <a:bodyPr anchorCtr="0" anchor="t"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30" name="Google Shape;30;p5"/>
          <p:cNvSpPr txBox="1"/>
          <p:nvPr>
            <p:ph idx="1" type="body"/>
          </p:nvPr>
        </p:nvSpPr>
        <p:spPr>
          <a:xfrm>
            <a:off x="311700" y="1417950"/>
            <a:ext cx="3999900" cy="3150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5"/>
          <p:cNvSpPr txBox="1"/>
          <p:nvPr>
            <p:ph idx="2" type="body"/>
          </p:nvPr>
        </p:nvSpPr>
        <p:spPr>
          <a:xfrm>
            <a:off x="4832400" y="1417950"/>
            <a:ext cx="3999900" cy="3150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3" name="Shape 33"/>
        <p:cNvGrpSpPr/>
        <p:nvPr/>
      </p:nvGrpSpPr>
      <p:grpSpPr>
        <a:xfrm>
          <a:off x="0" y="0"/>
          <a:ext cx="0" cy="0"/>
          <a:chOff x="0" y="0"/>
          <a:chExt cx="0" cy="0"/>
        </a:xfrm>
      </p:grpSpPr>
      <p:sp>
        <p:nvSpPr>
          <p:cNvPr id="34" name="Google Shape;34;p6"/>
          <p:cNvSpPr txBox="1"/>
          <p:nvPr>
            <p:ph type="title"/>
          </p:nvPr>
        </p:nvSpPr>
        <p:spPr>
          <a:xfrm>
            <a:off x="311700" y="372725"/>
            <a:ext cx="8520600" cy="645000"/>
          </a:xfrm>
          <a:prstGeom prst="rect">
            <a:avLst/>
          </a:prstGeom>
        </p:spPr>
        <p:txBody>
          <a:bodyPr anchorCtr="0" anchor="t"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35" name="Google Shape;3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cxnSp>
        <p:nvCxnSpPr>
          <p:cNvPr id="37" name="Google Shape;37;p7"/>
          <p:cNvCxnSpPr/>
          <p:nvPr/>
        </p:nvCxnSpPr>
        <p:spPr>
          <a:xfrm>
            <a:off x="411044" y="1417772"/>
            <a:ext cx="385200" cy="0"/>
          </a:xfrm>
          <a:prstGeom prst="straightConnector1">
            <a:avLst/>
          </a:prstGeom>
          <a:noFill/>
          <a:ln cap="flat" cmpd="sng" w="28575">
            <a:solidFill>
              <a:schemeClr val="dk1"/>
            </a:solidFill>
            <a:prstDash val="solid"/>
            <a:round/>
            <a:headEnd len="sm" w="sm" type="none"/>
            <a:tailEnd len="sm" w="sm" type="none"/>
          </a:ln>
        </p:spPr>
      </p:cxnSp>
      <p:sp>
        <p:nvSpPr>
          <p:cNvPr id="38" name="Google Shape;38;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9" name="Google Shape;39;p7"/>
          <p:cNvSpPr txBox="1"/>
          <p:nvPr>
            <p:ph idx="1" type="body"/>
          </p:nvPr>
        </p:nvSpPr>
        <p:spPr>
          <a:xfrm>
            <a:off x="311700" y="1640350"/>
            <a:ext cx="2808000" cy="29289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0" name="Google Shape;40;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1" name="Shape 41"/>
        <p:cNvGrpSpPr/>
        <p:nvPr/>
      </p:nvGrpSpPr>
      <p:grpSpPr>
        <a:xfrm>
          <a:off x="0" y="0"/>
          <a:ext cx="0" cy="0"/>
          <a:chOff x="0" y="0"/>
          <a:chExt cx="0" cy="0"/>
        </a:xfrm>
      </p:grpSpPr>
      <p:sp>
        <p:nvSpPr>
          <p:cNvPr id="42" name="Google Shape;42;p8"/>
          <p:cNvSpPr/>
          <p:nvPr/>
        </p:nvSpPr>
        <p:spPr>
          <a:xfrm>
            <a:off x="586721" y="0"/>
            <a:ext cx="7970700" cy="6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8"/>
          <p:cNvSpPr/>
          <p:nvPr/>
        </p:nvSpPr>
        <p:spPr>
          <a:xfrm>
            <a:off x="586721" y="5076900"/>
            <a:ext cx="7970700" cy="66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45" name="Google Shape;45;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6" name="Shape 46"/>
        <p:cNvGrpSpPr/>
        <p:nvPr/>
      </p:nvGrpSpPr>
      <p:grpSpPr>
        <a:xfrm>
          <a:off x="0" y="0"/>
          <a:ext cx="0" cy="0"/>
          <a:chOff x="0" y="0"/>
          <a:chExt cx="0" cy="0"/>
        </a:xfrm>
      </p:grpSpPr>
      <p:sp>
        <p:nvSpPr>
          <p:cNvPr id="47" name="Google Shape;47;p9"/>
          <p:cNvSpPr/>
          <p:nvPr/>
        </p:nvSpPr>
        <p:spPr>
          <a:xfrm>
            <a:off x="4572000" y="-10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8" name="Google Shape;48;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9" name="Google Shape;49;p9"/>
          <p:cNvSpPr txBox="1"/>
          <p:nvPr>
            <p:ph type="title"/>
          </p:nvPr>
        </p:nvSpPr>
        <p:spPr>
          <a:xfrm>
            <a:off x="265500" y="1084625"/>
            <a:ext cx="4045200" cy="17070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0" name="Google Shape;50;p9"/>
          <p:cNvSpPr txBox="1"/>
          <p:nvPr>
            <p:ph idx="1" type="subTitle"/>
          </p:nvPr>
        </p:nvSpPr>
        <p:spPr>
          <a:xfrm>
            <a:off x="265500" y="2845200"/>
            <a:ext cx="4045200" cy="14217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6"/>
              </a:buClr>
              <a:buSzPts val="2100"/>
              <a:buNone/>
              <a:defRPr sz="2100">
                <a:solidFill>
                  <a:schemeClr val="accent6"/>
                </a:solidFill>
              </a:defRPr>
            </a:lvl1pPr>
            <a:lvl2pPr lvl="1" algn="ctr">
              <a:lnSpc>
                <a:spcPct val="100000"/>
              </a:lnSpc>
              <a:spcBef>
                <a:spcPts val="0"/>
              </a:spcBef>
              <a:spcAft>
                <a:spcPts val="0"/>
              </a:spcAft>
              <a:buClr>
                <a:schemeClr val="accent6"/>
              </a:buClr>
              <a:buSzPts val="2100"/>
              <a:buNone/>
              <a:defRPr sz="2100">
                <a:solidFill>
                  <a:schemeClr val="accent6"/>
                </a:solidFill>
              </a:defRPr>
            </a:lvl2pPr>
            <a:lvl3pPr lvl="2" algn="ctr">
              <a:lnSpc>
                <a:spcPct val="100000"/>
              </a:lnSpc>
              <a:spcBef>
                <a:spcPts val="0"/>
              </a:spcBef>
              <a:spcAft>
                <a:spcPts val="0"/>
              </a:spcAft>
              <a:buClr>
                <a:schemeClr val="accent6"/>
              </a:buClr>
              <a:buSzPts val="2100"/>
              <a:buNone/>
              <a:defRPr sz="2100">
                <a:solidFill>
                  <a:schemeClr val="accent6"/>
                </a:solidFill>
              </a:defRPr>
            </a:lvl3pPr>
            <a:lvl4pPr lvl="3" algn="ctr">
              <a:lnSpc>
                <a:spcPct val="100000"/>
              </a:lnSpc>
              <a:spcBef>
                <a:spcPts val="0"/>
              </a:spcBef>
              <a:spcAft>
                <a:spcPts val="0"/>
              </a:spcAft>
              <a:buClr>
                <a:schemeClr val="accent6"/>
              </a:buClr>
              <a:buSzPts val="2100"/>
              <a:buNone/>
              <a:defRPr sz="2100">
                <a:solidFill>
                  <a:schemeClr val="accent6"/>
                </a:solidFill>
              </a:defRPr>
            </a:lvl4pPr>
            <a:lvl5pPr lvl="4" algn="ctr">
              <a:lnSpc>
                <a:spcPct val="100000"/>
              </a:lnSpc>
              <a:spcBef>
                <a:spcPts val="0"/>
              </a:spcBef>
              <a:spcAft>
                <a:spcPts val="0"/>
              </a:spcAft>
              <a:buClr>
                <a:schemeClr val="accent6"/>
              </a:buClr>
              <a:buSzPts val="2100"/>
              <a:buNone/>
              <a:defRPr sz="2100">
                <a:solidFill>
                  <a:schemeClr val="accent6"/>
                </a:solidFill>
              </a:defRPr>
            </a:lvl5pPr>
            <a:lvl6pPr lvl="5" algn="ctr">
              <a:lnSpc>
                <a:spcPct val="100000"/>
              </a:lnSpc>
              <a:spcBef>
                <a:spcPts val="0"/>
              </a:spcBef>
              <a:spcAft>
                <a:spcPts val="0"/>
              </a:spcAft>
              <a:buClr>
                <a:schemeClr val="accent6"/>
              </a:buClr>
              <a:buSzPts val="2100"/>
              <a:buNone/>
              <a:defRPr sz="2100">
                <a:solidFill>
                  <a:schemeClr val="accent6"/>
                </a:solidFill>
              </a:defRPr>
            </a:lvl6pPr>
            <a:lvl7pPr lvl="6" algn="ctr">
              <a:lnSpc>
                <a:spcPct val="100000"/>
              </a:lnSpc>
              <a:spcBef>
                <a:spcPts val="0"/>
              </a:spcBef>
              <a:spcAft>
                <a:spcPts val="0"/>
              </a:spcAft>
              <a:buClr>
                <a:schemeClr val="accent6"/>
              </a:buClr>
              <a:buSzPts val="2100"/>
              <a:buNone/>
              <a:defRPr sz="2100">
                <a:solidFill>
                  <a:schemeClr val="accent6"/>
                </a:solidFill>
              </a:defRPr>
            </a:lvl7pPr>
            <a:lvl8pPr lvl="7" algn="ctr">
              <a:lnSpc>
                <a:spcPct val="100000"/>
              </a:lnSpc>
              <a:spcBef>
                <a:spcPts val="0"/>
              </a:spcBef>
              <a:spcAft>
                <a:spcPts val="0"/>
              </a:spcAft>
              <a:buClr>
                <a:schemeClr val="accent6"/>
              </a:buClr>
              <a:buSzPts val="2100"/>
              <a:buNone/>
              <a:defRPr sz="2100">
                <a:solidFill>
                  <a:schemeClr val="accent6"/>
                </a:solidFill>
              </a:defRPr>
            </a:lvl8pPr>
            <a:lvl9pPr lvl="8" algn="ctr">
              <a:lnSpc>
                <a:spcPct val="100000"/>
              </a:lnSpc>
              <a:spcBef>
                <a:spcPts val="0"/>
              </a:spcBef>
              <a:spcAft>
                <a:spcPts val="0"/>
              </a:spcAft>
              <a:buClr>
                <a:schemeClr val="accent6"/>
              </a:buClr>
              <a:buSzPts val="2100"/>
              <a:buNone/>
              <a:defRPr sz="2100">
                <a:solidFill>
                  <a:schemeClr val="accent6"/>
                </a:solidFill>
              </a:defRPr>
            </a:lvl9pPr>
          </a:lstStyle>
          <a:p/>
        </p:txBody>
      </p:sp>
      <p:sp>
        <p:nvSpPr>
          <p:cNvPr id="51" name="Google Shape;51;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accent1"/>
              </a:buClr>
              <a:buSzPts val="1800"/>
              <a:buChar char="●"/>
              <a:defRPr>
                <a:solidFill>
                  <a:schemeClr val="accent1"/>
                </a:solidFill>
              </a:defRPr>
            </a:lvl1pPr>
            <a:lvl2pPr indent="-317500" lvl="1" marL="914400">
              <a:spcBef>
                <a:spcPts val="0"/>
              </a:spcBef>
              <a:spcAft>
                <a:spcPts val="0"/>
              </a:spcAft>
              <a:buClr>
                <a:schemeClr val="accent1"/>
              </a:buClr>
              <a:buSzPts val="1400"/>
              <a:buChar char="○"/>
              <a:defRPr>
                <a:solidFill>
                  <a:schemeClr val="accent1"/>
                </a:solidFill>
              </a:defRPr>
            </a:lvl2pPr>
            <a:lvl3pPr indent="-317500" lvl="2" marL="1371600">
              <a:spcBef>
                <a:spcPts val="0"/>
              </a:spcBef>
              <a:spcAft>
                <a:spcPts val="0"/>
              </a:spcAft>
              <a:buClr>
                <a:schemeClr val="accent1"/>
              </a:buClr>
              <a:buSzPts val="1400"/>
              <a:buChar char="■"/>
              <a:defRPr>
                <a:solidFill>
                  <a:schemeClr val="accent1"/>
                </a:solidFill>
              </a:defRPr>
            </a:lvl3pPr>
            <a:lvl4pPr indent="-317500" lvl="3" marL="1828800">
              <a:spcBef>
                <a:spcPts val="0"/>
              </a:spcBef>
              <a:spcAft>
                <a:spcPts val="0"/>
              </a:spcAft>
              <a:buClr>
                <a:schemeClr val="accent1"/>
              </a:buClr>
              <a:buSzPts val="1400"/>
              <a:buChar char="●"/>
              <a:defRPr>
                <a:solidFill>
                  <a:schemeClr val="accent1"/>
                </a:solidFill>
              </a:defRPr>
            </a:lvl4pPr>
            <a:lvl5pPr indent="-317500" lvl="4" marL="2286000">
              <a:spcBef>
                <a:spcPts val="0"/>
              </a:spcBef>
              <a:spcAft>
                <a:spcPts val="0"/>
              </a:spcAft>
              <a:buClr>
                <a:schemeClr val="accent1"/>
              </a:buClr>
              <a:buSzPts val="1400"/>
              <a:buChar char="○"/>
              <a:defRPr>
                <a:solidFill>
                  <a:schemeClr val="accent1"/>
                </a:solidFill>
              </a:defRPr>
            </a:lvl5pPr>
            <a:lvl6pPr indent="-317500" lvl="5" marL="2743200">
              <a:spcBef>
                <a:spcPts val="0"/>
              </a:spcBef>
              <a:spcAft>
                <a:spcPts val="0"/>
              </a:spcAft>
              <a:buClr>
                <a:schemeClr val="accent1"/>
              </a:buClr>
              <a:buSzPts val="1400"/>
              <a:buChar char="■"/>
              <a:defRPr>
                <a:solidFill>
                  <a:schemeClr val="accent1"/>
                </a:solidFill>
              </a:defRPr>
            </a:lvl6pPr>
            <a:lvl7pPr indent="-317500" lvl="6" marL="3200400">
              <a:spcBef>
                <a:spcPts val="0"/>
              </a:spcBef>
              <a:spcAft>
                <a:spcPts val="0"/>
              </a:spcAft>
              <a:buClr>
                <a:schemeClr val="accent1"/>
              </a:buClr>
              <a:buSzPts val="1400"/>
              <a:buChar char="●"/>
              <a:defRPr>
                <a:solidFill>
                  <a:schemeClr val="accent1"/>
                </a:solidFill>
              </a:defRPr>
            </a:lvl7pPr>
            <a:lvl8pPr indent="-317500" lvl="7" marL="3657600">
              <a:spcBef>
                <a:spcPts val="0"/>
              </a:spcBef>
              <a:spcAft>
                <a:spcPts val="0"/>
              </a:spcAft>
              <a:buClr>
                <a:schemeClr val="accent1"/>
              </a:buClr>
              <a:buSzPts val="1400"/>
              <a:buChar char="○"/>
              <a:defRPr>
                <a:solidFill>
                  <a:schemeClr val="accent1"/>
                </a:solidFill>
              </a:defRPr>
            </a:lvl8pPr>
            <a:lvl9pPr indent="-317500" lvl="8" marL="4114800">
              <a:spcBef>
                <a:spcPts val="0"/>
              </a:spcBef>
              <a:spcAft>
                <a:spcPts val="0"/>
              </a:spcAft>
              <a:buClr>
                <a:schemeClr val="accent1"/>
              </a:buClr>
              <a:buSzPts val="1400"/>
              <a:buChar char="■"/>
              <a:defRPr>
                <a:solidFill>
                  <a:schemeClr val="accent1"/>
                </a:solidFill>
              </a:defRPr>
            </a:lvl9pPr>
          </a:lstStyle>
          <a:p/>
        </p:txBody>
      </p:sp>
      <p:sp>
        <p:nvSpPr>
          <p:cNvPr id="52" name="Google Shape;52;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3" name="Shape 53"/>
        <p:cNvGrpSpPr/>
        <p:nvPr/>
      </p:nvGrpSpPr>
      <p:grpSpPr>
        <a:xfrm>
          <a:off x="0" y="0"/>
          <a:ext cx="0" cy="0"/>
          <a:chOff x="0" y="0"/>
          <a:chExt cx="0" cy="0"/>
        </a:xfrm>
      </p:grpSpPr>
      <p:sp>
        <p:nvSpPr>
          <p:cNvPr id="54" name="Google Shape;54;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55" name="Google Shape;55;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6" name="Shape 56"/>
        <p:cNvGrpSpPr/>
        <p:nvPr/>
      </p:nvGrpSpPr>
      <p:grpSpPr>
        <a:xfrm>
          <a:off x="0" y="0"/>
          <a:ext cx="0" cy="0"/>
          <a:chOff x="0" y="0"/>
          <a:chExt cx="0" cy="0"/>
        </a:xfrm>
      </p:grpSpPr>
      <p:sp>
        <p:nvSpPr>
          <p:cNvPr id="57" name="Google Shape;57;p11"/>
          <p:cNvSpPr/>
          <p:nvPr/>
        </p:nvSpPr>
        <p:spPr>
          <a:xfrm>
            <a:off x="586721" y="0"/>
            <a:ext cx="7970700" cy="6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1"/>
          <p:cNvSpPr/>
          <p:nvPr/>
        </p:nvSpPr>
        <p:spPr>
          <a:xfrm>
            <a:off x="586721" y="5076900"/>
            <a:ext cx="7970700" cy="66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11"/>
          <p:cNvSpPr txBox="1"/>
          <p:nvPr>
            <p:ph hasCustomPrompt="1" type="title"/>
          </p:nvPr>
        </p:nvSpPr>
        <p:spPr>
          <a:xfrm>
            <a:off x="586725" y="1353788"/>
            <a:ext cx="79707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6"/>
              </a:buClr>
              <a:buSzPts val="10800"/>
              <a:buNone/>
              <a:defRPr sz="10800">
                <a:solidFill>
                  <a:schemeClr val="accent6"/>
                </a:solidFill>
              </a:defRPr>
            </a:lvl1pPr>
            <a:lvl2pPr lvl="1" algn="ctr">
              <a:spcBef>
                <a:spcPts val="0"/>
              </a:spcBef>
              <a:spcAft>
                <a:spcPts val="0"/>
              </a:spcAft>
              <a:buClr>
                <a:schemeClr val="accent6"/>
              </a:buClr>
              <a:buSzPts val="10800"/>
              <a:buNone/>
              <a:defRPr sz="10800">
                <a:solidFill>
                  <a:schemeClr val="accent6"/>
                </a:solidFill>
              </a:defRPr>
            </a:lvl2pPr>
            <a:lvl3pPr lvl="2" algn="ctr">
              <a:spcBef>
                <a:spcPts val="0"/>
              </a:spcBef>
              <a:spcAft>
                <a:spcPts val="0"/>
              </a:spcAft>
              <a:buClr>
                <a:schemeClr val="accent6"/>
              </a:buClr>
              <a:buSzPts val="10800"/>
              <a:buNone/>
              <a:defRPr sz="10800">
                <a:solidFill>
                  <a:schemeClr val="accent6"/>
                </a:solidFill>
              </a:defRPr>
            </a:lvl3pPr>
            <a:lvl4pPr lvl="3" algn="ctr">
              <a:spcBef>
                <a:spcPts val="0"/>
              </a:spcBef>
              <a:spcAft>
                <a:spcPts val="0"/>
              </a:spcAft>
              <a:buClr>
                <a:schemeClr val="accent6"/>
              </a:buClr>
              <a:buSzPts val="10800"/>
              <a:buNone/>
              <a:defRPr sz="10800">
                <a:solidFill>
                  <a:schemeClr val="accent6"/>
                </a:solidFill>
              </a:defRPr>
            </a:lvl4pPr>
            <a:lvl5pPr lvl="4" algn="ctr">
              <a:spcBef>
                <a:spcPts val="0"/>
              </a:spcBef>
              <a:spcAft>
                <a:spcPts val="0"/>
              </a:spcAft>
              <a:buClr>
                <a:schemeClr val="accent6"/>
              </a:buClr>
              <a:buSzPts val="10800"/>
              <a:buNone/>
              <a:defRPr sz="10800">
                <a:solidFill>
                  <a:schemeClr val="accent6"/>
                </a:solidFill>
              </a:defRPr>
            </a:lvl5pPr>
            <a:lvl6pPr lvl="5" algn="ctr">
              <a:spcBef>
                <a:spcPts val="0"/>
              </a:spcBef>
              <a:spcAft>
                <a:spcPts val="0"/>
              </a:spcAft>
              <a:buClr>
                <a:schemeClr val="accent6"/>
              </a:buClr>
              <a:buSzPts val="10800"/>
              <a:buNone/>
              <a:defRPr sz="10800">
                <a:solidFill>
                  <a:schemeClr val="accent6"/>
                </a:solidFill>
              </a:defRPr>
            </a:lvl6pPr>
            <a:lvl7pPr lvl="6" algn="ctr">
              <a:spcBef>
                <a:spcPts val="0"/>
              </a:spcBef>
              <a:spcAft>
                <a:spcPts val="0"/>
              </a:spcAft>
              <a:buClr>
                <a:schemeClr val="accent6"/>
              </a:buClr>
              <a:buSzPts val="10800"/>
              <a:buNone/>
              <a:defRPr sz="10800">
                <a:solidFill>
                  <a:schemeClr val="accent6"/>
                </a:solidFill>
              </a:defRPr>
            </a:lvl7pPr>
            <a:lvl8pPr lvl="7" algn="ctr">
              <a:spcBef>
                <a:spcPts val="0"/>
              </a:spcBef>
              <a:spcAft>
                <a:spcPts val="0"/>
              </a:spcAft>
              <a:buClr>
                <a:schemeClr val="accent6"/>
              </a:buClr>
              <a:buSzPts val="10800"/>
              <a:buNone/>
              <a:defRPr sz="10800">
                <a:solidFill>
                  <a:schemeClr val="accent6"/>
                </a:solidFill>
              </a:defRPr>
            </a:lvl8pPr>
            <a:lvl9pPr lvl="8" algn="ctr">
              <a:spcBef>
                <a:spcPts val="0"/>
              </a:spcBef>
              <a:spcAft>
                <a:spcPts val="0"/>
              </a:spcAft>
              <a:buClr>
                <a:schemeClr val="accent6"/>
              </a:buClr>
              <a:buSzPts val="10800"/>
              <a:buNone/>
              <a:defRPr sz="10800">
                <a:solidFill>
                  <a:schemeClr val="accent6"/>
                </a:solidFill>
              </a:defRPr>
            </a:lvl9pPr>
          </a:lstStyle>
          <a:p>
            <a:r>
              <a:t>xx%</a:t>
            </a:r>
          </a:p>
        </p:txBody>
      </p:sp>
      <p:sp>
        <p:nvSpPr>
          <p:cNvPr id="60" name="Google Shape;60;p11"/>
          <p:cNvSpPr txBox="1"/>
          <p:nvPr>
            <p:ph idx="1" type="body"/>
          </p:nvPr>
        </p:nvSpPr>
        <p:spPr>
          <a:xfrm>
            <a:off x="586725" y="2968388"/>
            <a:ext cx="79707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61" name="Google Shape;61;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2" name="Shape 62"/>
        <p:cNvGrpSpPr/>
        <p:nvPr/>
      </p:nvGrpSpPr>
      <p:grpSpPr>
        <a:xfrm>
          <a:off x="0" y="0"/>
          <a:ext cx="0" cy="0"/>
          <a:chOff x="0" y="0"/>
          <a:chExt cx="0" cy="0"/>
        </a:xfrm>
      </p:grpSpPr>
      <p:sp>
        <p:nvSpPr>
          <p:cNvPr id="63" name="Google Shape;63;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blue-go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72725"/>
            <a:ext cx="8520600" cy="6450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1pPr>
            <a:lvl2pPr lvl="1">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2pPr>
            <a:lvl3pPr lvl="2">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3pPr>
            <a:lvl4pPr lvl="3">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4pPr>
            <a:lvl5pPr lvl="4">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5pPr>
            <a:lvl6pPr lvl="5">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6pPr>
            <a:lvl7pPr lvl="6">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7pPr>
            <a:lvl8pPr lvl="7">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8pPr>
            <a:lvl9pPr lvl="8">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9pPr>
          </a:lstStyle>
          <a:p/>
        </p:txBody>
      </p:sp>
      <p:sp>
        <p:nvSpPr>
          <p:cNvPr id="7" name="Google Shape;7;p1"/>
          <p:cNvSpPr txBox="1"/>
          <p:nvPr>
            <p:ph idx="1" type="body"/>
          </p:nvPr>
        </p:nvSpPr>
        <p:spPr>
          <a:xfrm>
            <a:off x="311700" y="1417800"/>
            <a:ext cx="8520600" cy="31509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Lato"/>
              <a:buChar char="●"/>
              <a:defRPr sz="1800">
                <a:solidFill>
                  <a:schemeClr val="dk1"/>
                </a:solidFill>
                <a:latin typeface="Lato"/>
                <a:ea typeface="Lato"/>
                <a:cs typeface="Lato"/>
                <a:sym typeface="Lato"/>
              </a:defRPr>
            </a:lvl1pPr>
            <a:lvl2pPr indent="-317500" lvl="1" marL="9144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2pPr>
            <a:lvl3pPr indent="-317500" lvl="2" marL="13716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3pPr>
            <a:lvl4pPr indent="-317500" lvl="3" marL="18288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4pPr>
            <a:lvl5pPr indent="-317500" lvl="4" marL="22860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5pPr>
            <a:lvl6pPr indent="-317500" lvl="5" marL="27432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6pPr>
            <a:lvl7pPr indent="-317500" lvl="6" marL="32004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7pPr>
            <a:lvl8pPr indent="-317500" lvl="7" marL="36576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8pPr>
            <a:lvl9pPr indent="-317500" lvl="8" marL="41148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Lato"/>
                <a:ea typeface="Lato"/>
                <a:cs typeface="Lato"/>
                <a:sym typeface="Lato"/>
              </a:defRPr>
            </a:lvl1pPr>
            <a:lvl2pPr lvl="1" algn="r">
              <a:buNone/>
              <a:defRPr sz="1000">
                <a:solidFill>
                  <a:schemeClr val="dk1"/>
                </a:solidFill>
                <a:latin typeface="Lato"/>
                <a:ea typeface="Lato"/>
                <a:cs typeface="Lato"/>
                <a:sym typeface="Lato"/>
              </a:defRPr>
            </a:lvl2pPr>
            <a:lvl3pPr lvl="2" algn="r">
              <a:buNone/>
              <a:defRPr sz="1000">
                <a:solidFill>
                  <a:schemeClr val="dk1"/>
                </a:solidFill>
                <a:latin typeface="Lato"/>
                <a:ea typeface="Lato"/>
                <a:cs typeface="Lato"/>
                <a:sym typeface="Lato"/>
              </a:defRPr>
            </a:lvl3pPr>
            <a:lvl4pPr lvl="3" algn="r">
              <a:buNone/>
              <a:defRPr sz="1000">
                <a:solidFill>
                  <a:schemeClr val="dk1"/>
                </a:solidFill>
                <a:latin typeface="Lato"/>
                <a:ea typeface="Lato"/>
                <a:cs typeface="Lato"/>
                <a:sym typeface="Lato"/>
              </a:defRPr>
            </a:lvl4pPr>
            <a:lvl5pPr lvl="4" algn="r">
              <a:buNone/>
              <a:defRPr sz="1000">
                <a:solidFill>
                  <a:schemeClr val="dk1"/>
                </a:solidFill>
                <a:latin typeface="Lato"/>
                <a:ea typeface="Lato"/>
                <a:cs typeface="Lato"/>
                <a:sym typeface="Lato"/>
              </a:defRPr>
            </a:lvl5pPr>
            <a:lvl6pPr lvl="5" algn="r">
              <a:buNone/>
              <a:defRPr sz="1000">
                <a:solidFill>
                  <a:schemeClr val="dk1"/>
                </a:solidFill>
                <a:latin typeface="Lato"/>
                <a:ea typeface="Lato"/>
                <a:cs typeface="Lato"/>
                <a:sym typeface="Lato"/>
              </a:defRPr>
            </a:lvl6pPr>
            <a:lvl7pPr lvl="6" algn="r">
              <a:buNone/>
              <a:defRPr sz="1000">
                <a:solidFill>
                  <a:schemeClr val="dk1"/>
                </a:solidFill>
                <a:latin typeface="Lato"/>
                <a:ea typeface="Lato"/>
                <a:cs typeface="Lato"/>
                <a:sym typeface="Lato"/>
              </a:defRPr>
            </a:lvl7pPr>
            <a:lvl8pPr lvl="7" algn="r">
              <a:buNone/>
              <a:defRPr sz="1000">
                <a:solidFill>
                  <a:schemeClr val="dk1"/>
                </a:solidFill>
                <a:latin typeface="Lato"/>
                <a:ea typeface="Lato"/>
                <a:cs typeface="Lato"/>
                <a:sym typeface="Lato"/>
              </a:defRPr>
            </a:lvl8pPr>
            <a:lvl9pPr lvl="8" algn="r">
              <a:buNone/>
              <a:defRPr sz="1000">
                <a:solidFill>
                  <a:schemeClr val="dk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7" name="Shape 67"/>
        <p:cNvGrpSpPr/>
        <p:nvPr/>
      </p:nvGrpSpPr>
      <p:grpSpPr>
        <a:xfrm>
          <a:off x="0" y="0"/>
          <a:ext cx="0" cy="0"/>
          <a:chOff x="0" y="0"/>
          <a:chExt cx="0" cy="0"/>
        </a:xfrm>
      </p:grpSpPr>
      <p:sp>
        <p:nvSpPr>
          <p:cNvPr id="68" name="Google Shape;68;p13"/>
          <p:cNvSpPr txBox="1"/>
          <p:nvPr>
            <p:ph type="ctrTitle"/>
          </p:nvPr>
        </p:nvSpPr>
        <p:spPr>
          <a:xfrm>
            <a:off x="630600" y="136800"/>
            <a:ext cx="7893000" cy="1853700"/>
          </a:xfrm>
          <a:prstGeom prst="rect">
            <a:avLst/>
          </a:prstGeom>
        </p:spPr>
        <p:txBody>
          <a:bodyPr anchorCtr="0" anchor="b" bIns="91425" lIns="91425" spcFirstLastPara="1" rIns="91425" wrap="square" tIns="91425">
            <a:normAutofit/>
          </a:bodyPr>
          <a:lstStyle/>
          <a:p>
            <a:pPr indent="0" lvl="0" marL="0" rtl="0" algn="l">
              <a:spcBef>
                <a:spcPts val="1000"/>
              </a:spcBef>
              <a:spcAft>
                <a:spcPts val="0"/>
              </a:spcAft>
              <a:buNone/>
            </a:pPr>
            <a:r>
              <a:rPr lang="en" sz="3600"/>
              <a:t>Analyzing air travel in a network through the lens of sociology</a:t>
            </a:r>
            <a:endParaRPr sz="3600"/>
          </a:p>
        </p:txBody>
      </p:sp>
      <p:sp>
        <p:nvSpPr>
          <p:cNvPr id="69" name="Google Shape;69;p13"/>
          <p:cNvSpPr txBox="1"/>
          <p:nvPr>
            <p:ph idx="1" type="subTitle"/>
          </p:nvPr>
        </p:nvSpPr>
        <p:spPr>
          <a:xfrm>
            <a:off x="630600" y="3228375"/>
            <a:ext cx="7893000" cy="1274100"/>
          </a:xfrm>
          <a:prstGeom prst="rect">
            <a:avLst/>
          </a:prstGeom>
        </p:spPr>
        <p:txBody>
          <a:bodyPr anchorCtr="0" anchor="b" bIns="91425" lIns="91425" spcFirstLastPara="1" rIns="91425" wrap="square" tIns="91425">
            <a:normAutofit/>
          </a:bodyPr>
          <a:lstStyle/>
          <a:p>
            <a:pPr indent="0" lvl="0" marL="0" rtl="0" algn="l">
              <a:spcBef>
                <a:spcPts val="1000"/>
              </a:spcBef>
              <a:spcAft>
                <a:spcPts val="0"/>
              </a:spcAft>
              <a:buNone/>
            </a:pPr>
            <a:r>
              <a:rPr lang="en"/>
              <a:t>Michael Mckenna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4"/>
          <p:cNvSpPr txBox="1"/>
          <p:nvPr>
            <p:ph type="title"/>
          </p:nvPr>
        </p:nvSpPr>
        <p:spPr>
          <a:xfrm>
            <a:off x="311700" y="372725"/>
            <a:ext cx="8520600" cy="64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a:t>
            </a:r>
            <a:endParaRPr/>
          </a:p>
        </p:txBody>
      </p:sp>
      <p:sp>
        <p:nvSpPr>
          <p:cNvPr id="75" name="Google Shape;75;p14"/>
          <p:cNvSpPr/>
          <p:nvPr/>
        </p:nvSpPr>
        <p:spPr>
          <a:xfrm>
            <a:off x="342275" y="1330500"/>
            <a:ext cx="8293200" cy="892500"/>
          </a:xfrm>
          <a:prstGeom prst="roundRect">
            <a:avLst>
              <a:gd fmla="val 16667" name="adj"/>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6" name="Google Shape;76;p14"/>
          <p:cNvSpPr txBox="1"/>
          <p:nvPr>
            <p:ph idx="1" type="body"/>
          </p:nvPr>
        </p:nvSpPr>
        <p:spPr>
          <a:xfrm>
            <a:off x="342275" y="1384500"/>
            <a:ext cx="8293200" cy="784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chemeClr val="lt1"/>
                </a:solidFill>
              </a:rPr>
              <a:t>What patterns emerge from simulating air traffic routes as a force-directed graph and how can we interpret the data in terms of geography and culture?</a:t>
            </a:r>
            <a:endParaRPr>
              <a:solidFill>
                <a:schemeClr val="lt1"/>
              </a:solidFill>
            </a:endParaRPr>
          </a:p>
        </p:txBody>
      </p:sp>
      <p:sp>
        <p:nvSpPr>
          <p:cNvPr id="77" name="Google Shape;77;p14"/>
          <p:cNvSpPr txBox="1"/>
          <p:nvPr/>
        </p:nvSpPr>
        <p:spPr>
          <a:xfrm>
            <a:off x="450700" y="2334000"/>
            <a:ext cx="7565700" cy="181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Lato"/>
                <a:ea typeface="Lato"/>
                <a:cs typeface="Lato"/>
                <a:sym typeface="Lato"/>
              </a:rPr>
              <a:t>The domestic air transportation network is a culmination of decades of population change and infrastructure advancement. Routes from the six largest airports serve every state and every major metropolitan area. This study embarks on an exploration of the complex interplay between air traffic, geography, and cultural influences by employing a Kamada-Kawai graph and agent-based model.</a:t>
            </a:r>
            <a:endParaRPr sz="1800">
              <a:solidFill>
                <a:schemeClr val="dk1"/>
              </a:solidFill>
              <a:latin typeface="Lato"/>
              <a:ea typeface="Lato"/>
              <a:cs typeface="Lato"/>
              <a:sym typeface="La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5"/>
          <p:cNvSpPr txBox="1"/>
          <p:nvPr>
            <p:ph type="title"/>
          </p:nvPr>
        </p:nvSpPr>
        <p:spPr>
          <a:xfrm>
            <a:off x="3726500" y="323425"/>
            <a:ext cx="2709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Literature Review</a:t>
            </a:r>
            <a:endParaRPr/>
          </a:p>
        </p:txBody>
      </p:sp>
      <p:sp>
        <p:nvSpPr>
          <p:cNvPr id="83" name="Google Shape;83;p15"/>
          <p:cNvSpPr txBox="1"/>
          <p:nvPr>
            <p:ph idx="1" type="body"/>
          </p:nvPr>
        </p:nvSpPr>
        <p:spPr>
          <a:xfrm>
            <a:off x="84300" y="1077475"/>
            <a:ext cx="2982900" cy="1967100"/>
          </a:xfrm>
          <a:prstGeom prst="rect">
            <a:avLst/>
          </a:prstGeom>
          <a:ln cap="flat" cmpd="sng" w="1905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95000"/>
              </a:lnSpc>
              <a:spcBef>
                <a:spcPts val="0"/>
              </a:spcBef>
              <a:spcAft>
                <a:spcPts val="0"/>
              </a:spcAft>
              <a:buSzPts val="935"/>
              <a:buNone/>
            </a:pPr>
            <a:r>
              <a:rPr b="1" lang="en" sz="1135">
                <a:solidFill>
                  <a:schemeClr val="dk1"/>
                </a:solidFill>
              </a:rPr>
              <a:t>“The worldwide air transportation network: Anomalous centrality, community structure, and cities' global roles”</a:t>
            </a:r>
            <a:endParaRPr b="1" sz="1135">
              <a:solidFill>
                <a:schemeClr val="dk1"/>
              </a:solidFill>
            </a:endParaRPr>
          </a:p>
          <a:p>
            <a:pPr indent="0" lvl="0" marL="0" rtl="0" algn="l">
              <a:lnSpc>
                <a:spcPct val="95000"/>
              </a:lnSpc>
              <a:spcBef>
                <a:spcPts val="0"/>
              </a:spcBef>
              <a:spcAft>
                <a:spcPts val="0"/>
              </a:spcAft>
              <a:buSzPts val="935"/>
              <a:buNone/>
            </a:pPr>
            <a:r>
              <a:t/>
            </a:r>
            <a:endParaRPr sz="1135">
              <a:solidFill>
                <a:schemeClr val="dk1"/>
              </a:solidFill>
            </a:endParaRPr>
          </a:p>
          <a:p>
            <a:pPr indent="0" lvl="0" marL="0" rtl="0" algn="l">
              <a:lnSpc>
                <a:spcPct val="95000"/>
              </a:lnSpc>
              <a:spcBef>
                <a:spcPts val="0"/>
              </a:spcBef>
              <a:spcAft>
                <a:spcPts val="0"/>
              </a:spcAft>
              <a:buClr>
                <a:schemeClr val="dk1"/>
              </a:buClr>
              <a:buSzPts val="935"/>
              <a:buFont typeface="Arial"/>
              <a:buNone/>
            </a:pPr>
            <a:r>
              <a:rPr lang="en" sz="1135">
                <a:solidFill>
                  <a:schemeClr val="dk1"/>
                </a:solidFill>
              </a:rPr>
              <a:t>This paper identified global air routes as a scale-free small-world network. Their ability to extract information on a city’s global presence according to its air transport connections is a novel method of both data visualization and analyzing political economics.</a:t>
            </a:r>
            <a:endParaRPr sz="1729"/>
          </a:p>
        </p:txBody>
      </p:sp>
      <p:sp>
        <p:nvSpPr>
          <p:cNvPr id="84" name="Google Shape;84;p15"/>
          <p:cNvSpPr txBox="1"/>
          <p:nvPr/>
        </p:nvSpPr>
        <p:spPr>
          <a:xfrm>
            <a:off x="3158475" y="1731075"/>
            <a:ext cx="2907900" cy="2144100"/>
          </a:xfrm>
          <a:prstGeom prst="rect">
            <a:avLst/>
          </a:prstGeom>
          <a:noFill/>
          <a:ln cap="flat" cmpd="sng" w="1905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100">
                <a:solidFill>
                  <a:schemeClr val="dk1"/>
                </a:solidFill>
              </a:rPr>
              <a:t>“Identification of Key Nodes in Aircraft State Network Based on Complex Network Theory”</a:t>
            </a:r>
            <a:endParaRPr b="1" sz="1100">
              <a:solidFill>
                <a:schemeClr val="dk1"/>
              </a:solidFill>
            </a:endParaRPr>
          </a:p>
          <a:p>
            <a:pPr indent="0" lvl="0" marL="0" rtl="0" algn="l">
              <a:lnSpc>
                <a:spcPct val="115000"/>
              </a:lnSpc>
              <a:spcBef>
                <a:spcPts val="0"/>
              </a:spcBef>
              <a:spcAft>
                <a:spcPts val="0"/>
              </a:spcAft>
              <a:buNone/>
            </a:pPr>
            <a:r>
              <a:rPr lang="en" sz="1100">
                <a:solidFill>
                  <a:schemeClr val="dk1"/>
                </a:solidFill>
              </a:rPr>
              <a:t> </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100">
                <a:solidFill>
                  <a:schemeClr val="dk1"/>
                </a:solidFill>
              </a:rPr>
              <a:t>This paper establishes a method for identifying and assessing conflicts in commercial aviation landing and take off. The terminology and metrics used were very insightful as well as the corresponding visualizations in the study.</a:t>
            </a:r>
            <a:endParaRPr sz="1800">
              <a:solidFill>
                <a:schemeClr val="dk2"/>
              </a:solidFill>
            </a:endParaRPr>
          </a:p>
        </p:txBody>
      </p:sp>
      <p:sp>
        <p:nvSpPr>
          <p:cNvPr id="85" name="Google Shape;85;p15"/>
          <p:cNvSpPr txBox="1"/>
          <p:nvPr/>
        </p:nvSpPr>
        <p:spPr>
          <a:xfrm>
            <a:off x="6157675" y="2265125"/>
            <a:ext cx="2907900" cy="2144100"/>
          </a:xfrm>
          <a:prstGeom prst="rect">
            <a:avLst/>
          </a:prstGeom>
          <a:noFill/>
          <a:ln cap="flat" cmpd="sng" w="1905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100">
                <a:solidFill>
                  <a:schemeClr val="dk1"/>
                </a:solidFill>
              </a:rPr>
              <a:t>“Large-scale agent-based simulation model of pedestrian traffic flows” </a:t>
            </a:r>
            <a:endParaRPr b="1" sz="1100">
              <a:solidFill>
                <a:schemeClr val="dk1"/>
              </a:solidFill>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100">
                <a:solidFill>
                  <a:schemeClr val="dk1"/>
                </a:solidFill>
              </a:rPr>
              <a:t>The presence of both logical and non-logical behaviors in simulating traffic is important to capturing realism in any model involving human inputs. That, as well as the implicit laws on human behavior used to guide the agent-based model informed my parameters and perspective of my project.</a:t>
            </a:r>
            <a:endParaRPr sz="1100">
              <a:solidFill>
                <a:schemeClr val="dk1"/>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6"/>
          <p:cNvSpPr txBox="1"/>
          <p:nvPr>
            <p:ph type="title"/>
          </p:nvPr>
        </p:nvSpPr>
        <p:spPr>
          <a:xfrm>
            <a:off x="311700" y="372725"/>
            <a:ext cx="8520600" cy="64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Model Description</a:t>
            </a:r>
            <a:endParaRPr/>
          </a:p>
        </p:txBody>
      </p:sp>
      <p:sp>
        <p:nvSpPr>
          <p:cNvPr id="91" name="Google Shape;91;p16"/>
          <p:cNvSpPr txBox="1"/>
          <p:nvPr>
            <p:ph idx="1" type="body"/>
          </p:nvPr>
        </p:nvSpPr>
        <p:spPr>
          <a:xfrm>
            <a:off x="311700" y="1152475"/>
            <a:ext cx="42228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A Kamada-Kawai graph of the 6 largest US airports and how they connect to over 100 different airports in all 50 states. The graph </a:t>
            </a:r>
            <a:r>
              <a:rPr lang="en"/>
              <a:t>accurately</a:t>
            </a:r>
            <a:r>
              <a:rPr lang="en"/>
              <a:t> portrays relative distance between most cities and provides an insight to population trends and transportation efficiency</a:t>
            </a:r>
            <a:endParaRPr/>
          </a:p>
        </p:txBody>
      </p:sp>
      <p:pic>
        <p:nvPicPr>
          <p:cNvPr id="92" name="Google Shape;92;p16"/>
          <p:cNvPicPr preferRelativeResize="0"/>
          <p:nvPr/>
        </p:nvPicPr>
        <p:blipFill rotWithShape="1">
          <a:blip r:embed="rId3">
            <a:alphaModFix/>
          </a:blip>
          <a:srcRect b="3568" l="6141" r="5877" t="4451"/>
          <a:stretch/>
        </p:blipFill>
        <p:spPr>
          <a:xfrm>
            <a:off x="4534500" y="1152467"/>
            <a:ext cx="4419600" cy="361856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7"/>
          <p:cNvSpPr txBox="1"/>
          <p:nvPr>
            <p:ph type="title"/>
          </p:nvPr>
        </p:nvSpPr>
        <p:spPr>
          <a:xfrm>
            <a:off x="311700" y="372725"/>
            <a:ext cx="8520600" cy="64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Experiment Methodology</a:t>
            </a:r>
            <a:endParaRPr/>
          </a:p>
        </p:txBody>
      </p:sp>
      <p:sp>
        <p:nvSpPr>
          <p:cNvPr id="98" name="Google Shape;98;p17"/>
          <p:cNvSpPr txBox="1"/>
          <p:nvPr>
            <p:ph idx="1" type="body"/>
          </p:nvPr>
        </p:nvSpPr>
        <p:spPr>
          <a:xfrm>
            <a:off x="127600" y="1193400"/>
            <a:ext cx="3877500" cy="2756700"/>
          </a:xfrm>
          <a:prstGeom prst="rect">
            <a:avLst/>
          </a:prstGeom>
        </p:spPr>
        <p:txBody>
          <a:bodyPr anchorCtr="0" anchor="t" bIns="91425" lIns="91425" spcFirstLastPara="1" rIns="91425" wrap="square" tIns="91425">
            <a:noAutofit/>
          </a:bodyPr>
          <a:lstStyle/>
          <a:p>
            <a:pPr indent="0" lvl="0" marL="0" rtl="0" algn="l">
              <a:lnSpc>
                <a:spcPct val="75000"/>
              </a:lnSpc>
              <a:spcBef>
                <a:spcPts val="0"/>
              </a:spcBef>
              <a:spcAft>
                <a:spcPts val="0"/>
              </a:spcAft>
              <a:buSzPts val="865"/>
              <a:buNone/>
            </a:pPr>
            <a:r>
              <a:rPr lang="en" sz="1400" u="sng">
                <a:latin typeface="Arial"/>
                <a:ea typeface="Arial"/>
                <a:cs typeface="Arial"/>
                <a:sym typeface="Arial"/>
              </a:rPr>
              <a:t>Data Analysis:</a:t>
            </a:r>
            <a:endParaRPr sz="1400" u="sng">
              <a:latin typeface="Arial"/>
              <a:ea typeface="Arial"/>
              <a:cs typeface="Arial"/>
              <a:sym typeface="Arial"/>
            </a:endParaRPr>
          </a:p>
          <a:p>
            <a:pPr indent="-317500" lvl="0" marL="457200" rtl="0" algn="l">
              <a:lnSpc>
                <a:spcPct val="75000"/>
              </a:lnSpc>
              <a:spcBef>
                <a:spcPts val="1200"/>
              </a:spcBef>
              <a:spcAft>
                <a:spcPts val="0"/>
              </a:spcAft>
              <a:buSzPts val="1400"/>
              <a:buFont typeface="Arial"/>
              <a:buChar char="●"/>
            </a:pPr>
            <a:r>
              <a:rPr lang="en" sz="1400">
                <a:latin typeface="Arial"/>
                <a:ea typeface="Arial"/>
                <a:cs typeface="Arial"/>
                <a:sym typeface="Arial"/>
              </a:rPr>
              <a:t>Using networkx I can analyze various measures of centrality on the vast majority of the US air transportation network.</a:t>
            </a:r>
            <a:endParaRPr sz="1400">
              <a:latin typeface="Arial"/>
              <a:ea typeface="Arial"/>
              <a:cs typeface="Arial"/>
              <a:sym typeface="Arial"/>
            </a:endParaRPr>
          </a:p>
          <a:p>
            <a:pPr indent="0" lvl="0" marL="457200" rtl="0" algn="l">
              <a:lnSpc>
                <a:spcPct val="75000"/>
              </a:lnSpc>
              <a:spcBef>
                <a:spcPts val="1200"/>
              </a:spcBef>
              <a:spcAft>
                <a:spcPts val="0"/>
              </a:spcAft>
              <a:buSzPts val="1018"/>
              <a:buNone/>
            </a:pPr>
            <a:r>
              <a:t/>
            </a:r>
            <a:endParaRPr sz="1400">
              <a:latin typeface="Arial"/>
              <a:ea typeface="Arial"/>
              <a:cs typeface="Arial"/>
              <a:sym typeface="Arial"/>
            </a:endParaRPr>
          </a:p>
          <a:p>
            <a:pPr indent="-317500" lvl="0" marL="457200" rtl="0" algn="l">
              <a:lnSpc>
                <a:spcPct val="75000"/>
              </a:lnSpc>
              <a:spcBef>
                <a:spcPts val="1200"/>
              </a:spcBef>
              <a:spcAft>
                <a:spcPts val="0"/>
              </a:spcAft>
              <a:buSzPts val="1400"/>
              <a:buFont typeface="Arial"/>
              <a:buChar char="●"/>
            </a:pPr>
            <a:r>
              <a:rPr lang="en" sz="1400">
                <a:latin typeface="Arial"/>
                <a:ea typeface="Arial"/>
                <a:cs typeface="Arial"/>
                <a:sym typeface="Arial"/>
              </a:rPr>
              <a:t>Using functions for degree, closeness, and </a:t>
            </a:r>
            <a:r>
              <a:rPr lang="en" sz="1400">
                <a:latin typeface="Arial"/>
                <a:ea typeface="Arial"/>
                <a:cs typeface="Arial"/>
                <a:sym typeface="Arial"/>
              </a:rPr>
              <a:t>betweenness</a:t>
            </a:r>
            <a:r>
              <a:rPr lang="en" sz="1400">
                <a:latin typeface="Arial"/>
                <a:ea typeface="Arial"/>
                <a:cs typeface="Arial"/>
                <a:sym typeface="Arial"/>
              </a:rPr>
              <a:t> centrality and printing the results to draw conclusions on which airports are strong connecting hubs, located nearest to other airports, and have the most connections</a:t>
            </a:r>
            <a:endParaRPr sz="1400">
              <a:latin typeface="Arial"/>
              <a:ea typeface="Arial"/>
              <a:cs typeface="Arial"/>
              <a:sym typeface="Arial"/>
            </a:endParaRPr>
          </a:p>
        </p:txBody>
      </p:sp>
      <p:sp>
        <p:nvSpPr>
          <p:cNvPr id="99" name="Google Shape;99;p17"/>
          <p:cNvSpPr txBox="1"/>
          <p:nvPr/>
        </p:nvSpPr>
        <p:spPr>
          <a:xfrm>
            <a:off x="4067800" y="1193400"/>
            <a:ext cx="4722600" cy="344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dk1"/>
                </a:solidFill>
              </a:rPr>
              <a:t>Agent-based Model:</a:t>
            </a:r>
            <a:endParaRPr u="sng">
              <a:solidFill>
                <a:schemeClr val="dk1"/>
              </a:solidFill>
            </a:endParaRPr>
          </a:p>
          <a:p>
            <a:pPr indent="0" lvl="0" marL="0" rtl="0" algn="l">
              <a:spcBef>
                <a:spcPts val="0"/>
              </a:spcBef>
              <a:spcAft>
                <a:spcPts val="0"/>
              </a:spcAft>
              <a:buNone/>
            </a:pPr>
            <a:r>
              <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Using the network created for data analysis I can set a stage for an agent-based model using a secondary set of smaller nodes- </a:t>
            </a:r>
            <a:r>
              <a:rPr lang="en">
                <a:solidFill>
                  <a:schemeClr val="dk1"/>
                </a:solidFill>
              </a:rPr>
              <a:t>referred</a:t>
            </a:r>
            <a:r>
              <a:rPr lang="en">
                <a:solidFill>
                  <a:schemeClr val="dk1"/>
                </a:solidFill>
              </a:rPr>
              <a:t> to as agents that move from node to node.</a:t>
            </a:r>
            <a:endParaRPr>
              <a:solidFill>
                <a:schemeClr val="dk1"/>
              </a:solidFill>
            </a:endParaRPr>
          </a:p>
          <a:p>
            <a:pPr indent="0" lvl="0" marL="0" rtl="0" algn="l">
              <a:spcBef>
                <a:spcPts val="0"/>
              </a:spcBef>
              <a:spcAft>
                <a:spcPts val="0"/>
              </a:spcAft>
              <a:buNone/>
            </a:pPr>
            <a:r>
              <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Using a visualization function I can observe the movement of agents around the network and recognize patterns formed by the natural movement of agents in the network</a:t>
            </a:r>
            <a:endParaRPr>
              <a:solidFill>
                <a:schemeClr val="dk1"/>
              </a:solidFill>
            </a:endParaRPr>
          </a:p>
          <a:p>
            <a:pPr indent="0" lvl="0" marL="0" rtl="0" algn="l">
              <a:spcBef>
                <a:spcPts val="0"/>
              </a:spcBef>
              <a:spcAft>
                <a:spcPts val="0"/>
              </a:spcAft>
              <a:buNone/>
            </a:pPr>
            <a:r>
              <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Because the network is an accurate representation of the air transportation network, movement in the model simulates patterns of real flight movement</a:t>
            </a:r>
            <a:endParaRPr>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8"/>
          <p:cNvSpPr txBox="1"/>
          <p:nvPr>
            <p:ph type="title"/>
          </p:nvPr>
        </p:nvSpPr>
        <p:spPr>
          <a:xfrm>
            <a:off x="311700" y="372725"/>
            <a:ext cx="8520600" cy="64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Results - Data Analysis</a:t>
            </a:r>
            <a:endParaRPr/>
          </a:p>
        </p:txBody>
      </p:sp>
      <p:graphicFrame>
        <p:nvGraphicFramePr>
          <p:cNvPr id="105" name="Google Shape;105;p18"/>
          <p:cNvGraphicFramePr/>
          <p:nvPr/>
        </p:nvGraphicFramePr>
        <p:xfrm>
          <a:off x="483300" y="2076450"/>
          <a:ext cx="3000000" cy="3000000"/>
        </p:xfrm>
        <a:graphic>
          <a:graphicData uri="http://schemas.openxmlformats.org/drawingml/2006/table">
            <a:tbl>
              <a:tblPr>
                <a:noFill/>
                <a:tableStyleId>{EA341320-AE18-4BC7-B98E-3FC579CD91F7}</a:tableStyleId>
              </a:tblPr>
              <a:tblGrid>
                <a:gridCol w="1407175"/>
                <a:gridCol w="1407175"/>
                <a:gridCol w="1407175"/>
                <a:gridCol w="1407175"/>
              </a:tblGrid>
              <a:tr h="316650">
                <a:tc>
                  <a:txBody>
                    <a:bodyPr/>
                    <a:lstStyle/>
                    <a:p>
                      <a:pPr indent="0" lvl="0" marL="0" rtl="0" algn="l">
                        <a:spcBef>
                          <a:spcPts val="0"/>
                        </a:spcBef>
                        <a:spcAft>
                          <a:spcPts val="0"/>
                        </a:spcAft>
                        <a:buNone/>
                      </a:pPr>
                      <a:r>
                        <a:rPr lang="en" sz="1200">
                          <a:solidFill>
                            <a:schemeClr val="dk1"/>
                          </a:solidFill>
                        </a:rPr>
                        <a:t>Cities</a:t>
                      </a:r>
                      <a:endParaRPr sz="1200">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Degree</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Closeness</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Betweenness</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316650">
                <a:tc>
                  <a:txBody>
                    <a:bodyPr/>
                    <a:lstStyle/>
                    <a:p>
                      <a:pPr indent="0" lvl="0" marL="0" rtl="0" algn="l">
                        <a:spcBef>
                          <a:spcPts val="0"/>
                        </a:spcBef>
                        <a:spcAft>
                          <a:spcPts val="0"/>
                        </a:spcAft>
                        <a:buNone/>
                      </a:pPr>
                      <a:r>
                        <a:rPr lang="en" sz="1200">
                          <a:solidFill>
                            <a:schemeClr val="dk1"/>
                          </a:solidFill>
                        </a:rPr>
                        <a:t>New York, NY</a:t>
                      </a:r>
                      <a:endParaRPr sz="1200">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0.42</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0.6329</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0.0867</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316650">
                <a:tc>
                  <a:txBody>
                    <a:bodyPr/>
                    <a:lstStyle/>
                    <a:p>
                      <a:pPr indent="0" lvl="0" marL="0" rtl="0" algn="l">
                        <a:spcBef>
                          <a:spcPts val="0"/>
                        </a:spcBef>
                        <a:spcAft>
                          <a:spcPts val="0"/>
                        </a:spcAft>
                        <a:buNone/>
                      </a:pPr>
                      <a:r>
                        <a:rPr lang="en" sz="1200">
                          <a:solidFill>
                            <a:schemeClr val="dk1"/>
                          </a:solidFill>
                        </a:rPr>
                        <a:t>Atlanta, GA</a:t>
                      </a:r>
                      <a:endParaRPr sz="1200">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0.39</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0.6211</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0.0812</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316650">
                <a:tc>
                  <a:txBody>
                    <a:bodyPr/>
                    <a:lstStyle/>
                    <a:p>
                      <a:pPr indent="0" lvl="0" marL="0" rtl="0" algn="l">
                        <a:spcBef>
                          <a:spcPts val="0"/>
                        </a:spcBef>
                        <a:spcAft>
                          <a:spcPts val="0"/>
                        </a:spcAft>
                        <a:buNone/>
                      </a:pPr>
                      <a:r>
                        <a:rPr lang="en" sz="1200">
                          <a:solidFill>
                            <a:schemeClr val="dk1"/>
                          </a:solidFill>
                        </a:rPr>
                        <a:t>Chicago, IL</a:t>
                      </a:r>
                      <a:endParaRPr sz="1200">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0.47</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0.6536</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0.0722</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316650">
                <a:tc>
                  <a:txBody>
                    <a:bodyPr/>
                    <a:lstStyle/>
                    <a:p>
                      <a:pPr indent="0" lvl="0" marL="0" rtl="0" algn="l">
                        <a:spcBef>
                          <a:spcPts val="0"/>
                        </a:spcBef>
                        <a:spcAft>
                          <a:spcPts val="0"/>
                        </a:spcAft>
                        <a:buNone/>
                      </a:pPr>
                      <a:r>
                        <a:rPr lang="en" sz="1200">
                          <a:solidFill>
                            <a:schemeClr val="dk1"/>
                          </a:solidFill>
                        </a:rPr>
                        <a:t>Dallas, TX</a:t>
                      </a:r>
                      <a:endParaRPr sz="1200">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0.84</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0.8621</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0.38</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316650">
                <a:tc>
                  <a:txBody>
                    <a:bodyPr/>
                    <a:lstStyle/>
                    <a:p>
                      <a:pPr indent="0" lvl="0" marL="0" rtl="0" algn="l">
                        <a:spcBef>
                          <a:spcPts val="0"/>
                        </a:spcBef>
                        <a:spcAft>
                          <a:spcPts val="0"/>
                        </a:spcAft>
                        <a:buNone/>
                      </a:pPr>
                      <a:r>
                        <a:rPr lang="en" sz="1200">
                          <a:solidFill>
                            <a:schemeClr val="dk1"/>
                          </a:solidFill>
                        </a:rPr>
                        <a:t>Denver, CO</a:t>
                      </a:r>
                      <a:endParaRPr sz="1200">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0.72</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0.78125</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0.2238</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316650">
                <a:tc>
                  <a:txBody>
                    <a:bodyPr/>
                    <a:lstStyle/>
                    <a:p>
                      <a:pPr indent="0" lvl="0" marL="0" rtl="0" algn="l">
                        <a:spcBef>
                          <a:spcPts val="0"/>
                        </a:spcBef>
                        <a:spcAft>
                          <a:spcPts val="0"/>
                        </a:spcAft>
                        <a:buNone/>
                      </a:pPr>
                      <a:r>
                        <a:rPr lang="en" sz="1200">
                          <a:solidFill>
                            <a:schemeClr val="dk1"/>
                          </a:solidFill>
                        </a:rPr>
                        <a:t>Los Angeles, CA</a:t>
                      </a:r>
                      <a:endParaRPr sz="1200">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0.72</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0.78125</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0.1901</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bl>
          </a:graphicData>
        </a:graphic>
      </p:graphicFrame>
      <p:sp>
        <p:nvSpPr>
          <p:cNvPr id="106" name="Google Shape;106;p18"/>
          <p:cNvSpPr txBox="1"/>
          <p:nvPr/>
        </p:nvSpPr>
        <p:spPr>
          <a:xfrm>
            <a:off x="356700" y="1161675"/>
            <a:ext cx="6163200" cy="78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rPr>
              <a:t>It’s understandable that Dallas is home to the most well-connected airport in the US because of its central location, distance from other large cities, and other factors</a:t>
            </a:r>
            <a:endParaRPr sz="16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9"/>
          <p:cNvSpPr txBox="1"/>
          <p:nvPr>
            <p:ph type="title"/>
          </p:nvPr>
        </p:nvSpPr>
        <p:spPr>
          <a:xfrm>
            <a:off x="244400" y="473300"/>
            <a:ext cx="5810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Results - Agent-based Model</a:t>
            </a:r>
            <a:endParaRPr/>
          </a:p>
        </p:txBody>
      </p:sp>
      <p:sp>
        <p:nvSpPr>
          <p:cNvPr id="112" name="Google Shape;112;p19"/>
          <p:cNvSpPr txBox="1"/>
          <p:nvPr>
            <p:ph idx="1" type="body"/>
          </p:nvPr>
        </p:nvSpPr>
        <p:spPr>
          <a:xfrm>
            <a:off x="311700" y="1152475"/>
            <a:ext cx="4497300" cy="3416400"/>
          </a:xfrm>
          <a:prstGeom prst="rect">
            <a:avLst/>
          </a:prstGeom>
        </p:spPr>
        <p:txBody>
          <a:bodyPr anchorCtr="0" anchor="t" bIns="91425" lIns="91425" spcFirstLastPara="1" rIns="91425" wrap="square" tIns="91425">
            <a:normAutofit/>
          </a:bodyPr>
          <a:lstStyle/>
          <a:p>
            <a:pPr indent="0" lvl="0" marL="0" rtl="0" algn="l">
              <a:lnSpc>
                <a:spcPct val="95000"/>
              </a:lnSpc>
              <a:spcBef>
                <a:spcPts val="0"/>
              </a:spcBef>
              <a:spcAft>
                <a:spcPts val="0"/>
              </a:spcAft>
              <a:buNone/>
            </a:pPr>
            <a:r>
              <a:rPr lang="en" sz="1500"/>
              <a:t>Patterns develop in the model where agents travel to certain regions of nodes depending on the hub they travel through. These regions are both cultural and geographical.</a:t>
            </a:r>
            <a:endParaRPr sz="1500"/>
          </a:p>
          <a:p>
            <a:pPr indent="0" lvl="0" marL="0" rtl="0" algn="l">
              <a:lnSpc>
                <a:spcPct val="95000"/>
              </a:lnSpc>
              <a:spcBef>
                <a:spcPts val="1200"/>
              </a:spcBef>
              <a:spcAft>
                <a:spcPts val="0"/>
              </a:spcAft>
              <a:buNone/>
            </a:pPr>
            <a:r>
              <a:rPr lang="en" sz="1500"/>
              <a:t>Atlanta: Florida + Appalachian/Piedmont</a:t>
            </a:r>
            <a:endParaRPr sz="1500"/>
          </a:p>
          <a:p>
            <a:pPr indent="0" lvl="0" marL="0" rtl="0" algn="l">
              <a:lnSpc>
                <a:spcPct val="95000"/>
              </a:lnSpc>
              <a:spcBef>
                <a:spcPts val="1200"/>
              </a:spcBef>
              <a:spcAft>
                <a:spcPts val="0"/>
              </a:spcAft>
              <a:buNone/>
            </a:pPr>
            <a:r>
              <a:rPr lang="en" sz="1500"/>
              <a:t>New York: Northeast Corridor + Florida</a:t>
            </a:r>
            <a:endParaRPr sz="1500"/>
          </a:p>
          <a:p>
            <a:pPr indent="0" lvl="0" marL="0" rtl="0" algn="l">
              <a:lnSpc>
                <a:spcPct val="95000"/>
              </a:lnSpc>
              <a:spcBef>
                <a:spcPts val="1200"/>
              </a:spcBef>
              <a:spcAft>
                <a:spcPts val="0"/>
              </a:spcAft>
              <a:buNone/>
            </a:pPr>
            <a:r>
              <a:rPr lang="en" sz="1500"/>
              <a:t>Denver: Rockies + California</a:t>
            </a:r>
            <a:endParaRPr sz="1500"/>
          </a:p>
          <a:p>
            <a:pPr indent="0" lvl="0" marL="0" rtl="0" algn="l">
              <a:lnSpc>
                <a:spcPct val="95000"/>
              </a:lnSpc>
              <a:spcBef>
                <a:spcPts val="1200"/>
              </a:spcBef>
              <a:spcAft>
                <a:spcPts val="0"/>
              </a:spcAft>
              <a:buNone/>
            </a:pPr>
            <a:r>
              <a:rPr lang="en" sz="1500"/>
              <a:t>Los Angeles: California + Rockies + Southwest</a:t>
            </a:r>
            <a:endParaRPr sz="1500"/>
          </a:p>
          <a:p>
            <a:pPr indent="0" lvl="0" marL="0" rtl="0" algn="l">
              <a:lnSpc>
                <a:spcPct val="95000"/>
              </a:lnSpc>
              <a:spcBef>
                <a:spcPts val="1200"/>
              </a:spcBef>
              <a:spcAft>
                <a:spcPts val="1200"/>
              </a:spcAft>
              <a:buNone/>
            </a:pPr>
            <a:r>
              <a:rPr lang="en" sz="1500"/>
              <a:t>Texas: Southwest + California + Appalachian/Piedmont</a:t>
            </a:r>
            <a:endParaRPr sz="1500"/>
          </a:p>
        </p:txBody>
      </p:sp>
      <p:grpSp>
        <p:nvGrpSpPr>
          <p:cNvPr id="113" name="Google Shape;113;p19"/>
          <p:cNvGrpSpPr/>
          <p:nvPr/>
        </p:nvGrpSpPr>
        <p:grpSpPr>
          <a:xfrm>
            <a:off x="5047900" y="1246175"/>
            <a:ext cx="3700475" cy="2944750"/>
            <a:chOff x="5047900" y="1246175"/>
            <a:chExt cx="3700475" cy="2944750"/>
          </a:xfrm>
        </p:grpSpPr>
        <p:pic>
          <p:nvPicPr>
            <p:cNvPr id="114" name="Google Shape;114;p19"/>
            <p:cNvPicPr preferRelativeResize="0"/>
            <p:nvPr/>
          </p:nvPicPr>
          <p:blipFill rotWithShape="1">
            <a:blip r:embed="rId3">
              <a:alphaModFix/>
            </a:blip>
            <a:srcRect b="5040" l="6330" r="4883" t="5904"/>
            <a:stretch/>
          </p:blipFill>
          <p:spPr>
            <a:xfrm>
              <a:off x="5047900" y="1358025"/>
              <a:ext cx="3700475" cy="2832900"/>
            </a:xfrm>
            <a:prstGeom prst="rect">
              <a:avLst/>
            </a:prstGeom>
            <a:noFill/>
            <a:ln>
              <a:noFill/>
            </a:ln>
          </p:spPr>
        </p:pic>
        <p:sp>
          <p:nvSpPr>
            <p:cNvPr id="115" name="Google Shape;115;p19"/>
            <p:cNvSpPr/>
            <p:nvPr/>
          </p:nvSpPr>
          <p:spPr>
            <a:xfrm>
              <a:off x="5047900" y="3172850"/>
              <a:ext cx="779100" cy="655200"/>
            </a:xfrm>
            <a:prstGeom prst="rect">
              <a:avLst/>
            </a:prstGeom>
            <a:noFill/>
            <a:ln cap="flat" cmpd="sng" w="28575">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6" name="Google Shape;116;p19"/>
            <p:cNvSpPr/>
            <p:nvPr/>
          </p:nvSpPr>
          <p:spPr>
            <a:xfrm>
              <a:off x="6811500" y="3338600"/>
              <a:ext cx="1519800" cy="852300"/>
            </a:xfrm>
            <a:prstGeom prst="rect">
              <a:avLst/>
            </a:prstGeom>
            <a:noFill/>
            <a:ln cap="flat" cmpd="sng" w="28575">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7" name="Google Shape;117;p19"/>
            <p:cNvSpPr/>
            <p:nvPr/>
          </p:nvSpPr>
          <p:spPr>
            <a:xfrm>
              <a:off x="6055100" y="2606725"/>
              <a:ext cx="522600" cy="1087200"/>
            </a:xfrm>
            <a:prstGeom prst="rect">
              <a:avLst/>
            </a:prstGeom>
            <a:noFill/>
            <a:ln cap="flat" cmpd="sng" w="28575">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8" name="Google Shape;118;p19"/>
            <p:cNvSpPr/>
            <p:nvPr/>
          </p:nvSpPr>
          <p:spPr>
            <a:xfrm>
              <a:off x="7223500" y="1582050"/>
              <a:ext cx="522600" cy="736200"/>
            </a:xfrm>
            <a:prstGeom prst="rect">
              <a:avLst/>
            </a:prstGeom>
            <a:noFill/>
            <a:ln cap="flat" cmpd="sng" w="28575">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 name="Google Shape;119;p19"/>
            <p:cNvSpPr/>
            <p:nvPr/>
          </p:nvSpPr>
          <p:spPr>
            <a:xfrm>
              <a:off x="5640925" y="1246175"/>
              <a:ext cx="1685700" cy="655200"/>
            </a:xfrm>
            <a:prstGeom prst="rect">
              <a:avLst/>
            </a:prstGeom>
            <a:noFill/>
            <a:ln cap="flat" cmpd="sng" w="28575">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0"/>
          <p:cNvSpPr txBox="1"/>
          <p:nvPr>
            <p:ph type="title"/>
          </p:nvPr>
        </p:nvSpPr>
        <p:spPr>
          <a:xfrm>
            <a:off x="2994000" y="374200"/>
            <a:ext cx="22575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Limitations</a:t>
            </a:r>
            <a:endParaRPr/>
          </a:p>
        </p:txBody>
      </p:sp>
      <p:sp>
        <p:nvSpPr>
          <p:cNvPr id="125" name="Google Shape;125;p20"/>
          <p:cNvSpPr txBox="1"/>
          <p:nvPr>
            <p:ph idx="1" type="body"/>
          </p:nvPr>
        </p:nvSpPr>
        <p:spPr>
          <a:xfrm>
            <a:off x="311700" y="2277525"/>
            <a:ext cx="2523000" cy="2215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1100">
                <a:solidFill>
                  <a:schemeClr val="dk1"/>
                </a:solidFill>
                <a:latin typeface="Arial"/>
                <a:ea typeface="Arial"/>
                <a:cs typeface="Arial"/>
                <a:sym typeface="Arial"/>
              </a:rPr>
              <a:t>The capabilities of my model are functionally limited to a subset of pre-existing data because of the practicality of collecting and visualizing data. The model represents a fixed number of hubs and airports which does accurately reflect the vast majority of air travel, however it doesn’t accurately represent all of domestic air travel.</a:t>
            </a:r>
            <a:endParaRPr sz="1100">
              <a:latin typeface="Arial"/>
              <a:ea typeface="Arial"/>
              <a:cs typeface="Arial"/>
              <a:sym typeface="Arial"/>
            </a:endParaRPr>
          </a:p>
        </p:txBody>
      </p:sp>
      <p:sp>
        <p:nvSpPr>
          <p:cNvPr id="126" name="Google Shape;126;p20"/>
          <p:cNvSpPr txBox="1"/>
          <p:nvPr/>
        </p:nvSpPr>
        <p:spPr>
          <a:xfrm>
            <a:off x="3233225" y="2277525"/>
            <a:ext cx="2523000" cy="2106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n" sz="1100">
                <a:solidFill>
                  <a:schemeClr val="dk1"/>
                </a:solidFill>
              </a:rPr>
              <a:t>Because of the earth’s spherical shape, no 2-dimensional graph can accurately depict the true distance between two points that accurately preserves both the spatial </a:t>
            </a:r>
            <a:r>
              <a:rPr lang="en" sz="1100">
                <a:solidFill>
                  <a:schemeClr val="dk1"/>
                </a:solidFill>
              </a:rPr>
              <a:t>separation</a:t>
            </a:r>
            <a:r>
              <a:rPr lang="en" sz="1100">
                <a:solidFill>
                  <a:schemeClr val="dk1"/>
                </a:solidFill>
              </a:rPr>
              <a:t> and still provides the shortest path length. There is also the trouble of having outlier nodes that exist outside the continental US like Alaska and Hawaii being fit into the graph.</a:t>
            </a:r>
            <a:endParaRPr sz="1800">
              <a:solidFill>
                <a:schemeClr val="dk2"/>
              </a:solidFill>
            </a:endParaRPr>
          </a:p>
        </p:txBody>
      </p:sp>
      <p:sp>
        <p:nvSpPr>
          <p:cNvPr id="127" name="Google Shape;127;p20"/>
          <p:cNvSpPr txBox="1"/>
          <p:nvPr/>
        </p:nvSpPr>
        <p:spPr>
          <a:xfrm>
            <a:off x="471000" y="1888125"/>
            <a:ext cx="1814700" cy="38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u="sng">
                <a:solidFill>
                  <a:schemeClr val="dk1"/>
                </a:solidFill>
              </a:rPr>
              <a:t>Amount of Data</a:t>
            </a:r>
            <a:endParaRPr sz="1800" u="sng">
              <a:solidFill>
                <a:schemeClr val="dk1"/>
              </a:solidFill>
            </a:endParaRPr>
          </a:p>
        </p:txBody>
      </p:sp>
      <p:sp>
        <p:nvSpPr>
          <p:cNvPr id="128" name="Google Shape;128;p20"/>
          <p:cNvSpPr txBox="1"/>
          <p:nvPr/>
        </p:nvSpPr>
        <p:spPr>
          <a:xfrm>
            <a:off x="3666975" y="1851975"/>
            <a:ext cx="1248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u="sng">
                <a:solidFill>
                  <a:schemeClr val="dk1"/>
                </a:solidFill>
              </a:rPr>
              <a:t>2D Graph</a:t>
            </a:r>
            <a:endParaRPr/>
          </a:p>
        </p:txBody>
      </p:sp>
      <p:sp>
        <p:nvSpPr>
          <p:cNvPr id="129" name="Google Shape;129;p20"/>
          <p:cNvSpPr txBox="1"/>
          <p:nvPr/>
        </p:nvSpPr>
        <p:spPr>
          <a:xfrm>
            <a:off x="6662275" y="1851975"/>
            <a:ext cx="1398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u="sng">
                <a:solidFill>
                  <a:schemeClr val="dk1"/>
                </a:solidFill>
              </a:rPr>
              <a:t>Movement</a:t>
            </a:r>
            <a:endParaRPr/>
          </a:p>
        </p:txBody>
      </p:sp>
      <p:sp>
        <p:nvSpPr>
          <p:cNvPr id="130" name="Google Shape;130;p20"/>
          <p:cNvSpPr txBox="1"/>
          <p:nvPr/>
        </p:nvSpPr>
        <p:spPr>
          <a:xfrm>
            <a:off x="6387125" y="2277525"/>
            <a:ext cx="2257500" cy="210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1"/>
                </a:solidFill>
              </a:rPr>
              <a:t>The agents don’t </a:t>
            </a:r>
            <a:r>
              <a:rPr lang="en" sz="1100">
                <a:solidFill>
                  <a:schemeClr val="dk1"/>
                </a:solidFill>
              </a:rPr>
              <a:t>accurately</a:t>
            </a:r>
            <a:r>
              <a:rPr lang="en" sz="1100">
                <a:solidFill>
                  <a:schemeClr val="dk1"/>
                </a:solidFill>
              </a:rPr>
              <a:t> portray a scaled down movement of actual airplanes because similarly to the distance issue, agents traveling to other nodes as an actual reflection of time and space would require altering the distance data to fit a non-spherical graph and would be very time consuming to iterate every scaled down mile traveled by the agent to its destination</a:t>
            </a:r>
            <a:endParaRPr sz="11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1"/>
          <p:cNvSpPr txBox="1"/>
          <p:nvPr>
            <p:ph type="title"/>
          </p:nvPr>
        </p:nvSpPr>
        <p:spPr>
          <a:xfrm>
            <a:off x="311700" y="372725"/>
            <a:ext cx="8520600" cy="64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Implications on Efficiency</a:t>
            </a:r>
            <a:endParaRPr/>
          </a:p>
        </p:txBody>
      </p:sp>
      <p:sp>
        <p:nvSpPr>
          <p:cNvPr id="136" name="Google Shape;136;p21"/>
          <p:cNvSpPr txBox="1"/>
          <p:nvPr>
            <p:ph idx="1" type="body"/>
          </p:nvPr>
        </p:nvSpPr>
        <p:spPr>
          <a:xfrm>
            <a:off x="311700" y="1152475"/>
            <a:ext cx="7395000" cy="8871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1200"/>
              </a:spcAft>
              <a:buNone/>
            </a:pPr>
            <a:r>
              <a:rPr lang="en" sz="1600"/>
              <a:t>The current air transportation network has identified </a:t>
            </a:r>
            <a:r>
              <a:rPr lang="en" sz="1600"/>
              <a:t>the need for alternative modes of travel for distances between 100-500 miles in key population dense corridors like the Northeast, Florida, California, and Piedmont.</a:t>
            </a:r>
            <a:endParaRPr sz="1600"/>
          </a:p>
        </p:txBody>
      </p:sp>
      <p:sp>
        <p:nvSpPr>
          <p:cNvPr id="137" name="Google Shape;137;p21"/>
          <p:cNvSpPr txBox="1"/>
          <p:nvPr/>
        </p:nvSpPr>
        <p:spPr>
          <a:xfrm>
            <a:off x="1546500" y="2261025"/>
            <a:ext cx="7285800" cy="139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rPr>
              <a:t>There is also an identifiable need for consolidation of airports in cities where airports almost overlap- San Antonio and Austin, Buffalo and Rochester, Miami and Fort Lauderdale</a:t>
            </a:r>
            <a:endParaRPr sz="1600">
              <a:solidFill>
                <a:schemeClr val="dk1"/>
              </a:solidFill>
            </a:endParaRPr>
          </a:p>
          <a:p>
            <a:pPr indent="0" lvl="0" marL="0" rtl="0" algn="l">
              <a:spcBef>
                <a:spcPts val="0"/>
              </a:spcBef>
              <a:spcAft>
                <a:spcPts val="0"/>
              </a:spcAft>
              <a:buNone/>
            </a:pPr>
            <a:r>
              <a:rPr lang="en" sz="1600">
                <a:solidFill>
                  <a:schemeClr val="dk1"/>
                </a:solidFill>
              </a:rPr>
              <a:t>In these areas airports are less than an hour away from each other and compete in both domestic and international travel</a:t>
            </a:r>
            <a:endParaRPr sz="1600">
              <a:solidFill>
                <a:schemeClr val="dk1"/>
              </a:solidFill>
            </a:endParaRPr>
          </a:p>
        </p:txBody>
      </p:sp>
      <p:pic>
        <p:nvPicPr>
          <p:cNvPr id="138" name="Google Shape;138;p21"/>
          <p:cNvPicPr preferRelativeResize="0"/>
          <p:nvPr/>
        </p:nvPicPr>
        <p:blipFill rotWithShape="1">
          <a:blip r:embed="rId3">
            <a:alphaModFix/>
          </a:blip>
          <a:srcRect b="31300" l="2296" r="0" t="21359"/>
          <a:stretch/>
        </p:blipFill>
        <p:spPr>
          <a:xfrm>
            <a:off x="173250" y="4036450"/>
            <a:ext cx="1459800" cy="768300"/>
          </a:xfrm>
          <a:prstGeom prst="roundRect">
            <a:avLst>
              <a:gd fmla="val 16667" name="adj"/>
            </a:avLst>
          </a:prstGeom>
          <a:noFill/>
          <a:ln>
            <a:noFill/>
          </a:ln>
        </p:spPr>
      </p:pic>
      <p:pic>
        <p:nvPicPr>
          <p:cNvPr id="139" name="Google Shape;139;p21"/>
          <p:cNvPicPr preferRelativeResize="0"/>
          <p:nvPr/>
        </p:nvPicPr>
        <p:blipFill rotWithShape="1">
          <a:blip r:embed="rId3">
            <a:alphaModFix/>
          </a:blip>
          <a:srcRect b="31300" l="2296" r="0" t="21359"/>
          <a:stretch/>
        </p:blipFill>
        <p:spPr>
          <a:xfrm>
            <a:off x="1976650" y="4036450"/>
            <a:ext cx="1459800" cy="768300"/>
          </a:xfrm>
          <a:prstGeom prst="roundRect">
            <a:avLst>
              <a:gd fmla="val 16667" name="adj"/>
            </a:avLst>
          </a:prstGeom>
          <a:noFill/>
          <a:ln>
            <a:noFill/>
          </a:ln>
        </p:spPr>
      </p:pic>
      <p:pic>
        <p:nvPicPr>
          <p:cNvPr id="140" name="Google Shape;140;p21"/>
          <p:cNvPicPr preferRelativeResize="0"/>
          <p:nvPr/>
        </p:nvPicPr>
        <p:blipFill rotWithShape="1">
          <a:blip r:embed="rId3">
            <a:alphaModFix/>
          </a:blip>
          <a:srcRect b="31300" l="2296" r="0" t="21359"/>
          <a:stretch/>
        </p:blipFill>
        <p:spPr>
          <a:xfrm>
            <a:off x="3780050" y="4036450"/>
            <a:ext cx="1459800" cy="768300"/>
          </a:xfrm>
          <a:prstGeom prst="roundRect">
            <a:avLst>
              <a:gd fmla="val 16667" name="adj"/>
            </a:avLst>
          </a:prstGeom>
          <a:noFill/>
          <a:ln>
            <a:noFill/>
          </a:ln>
        </p:spPr>
      </p:pic>
      <p:pic>
        <p:nvPicPr>
          <p:cNvPr id="141" name="Google Shape;141;p21"/>
          <p:cNvPicPr preferRelativeResize="0"/>
          <p:nvPr/>
        </p:nvPicPr>
        <p:blipFill rotWithShape="1">
          <a:blip r:embed="rId3">
            <a:alphaModFix/>
          </a:blip>
          <a:srcRect b="31300" l="2296" r="0" t="21359"/>
          <a:stretch/>
        </p:blipFill>
        <p:spPr>
          <a:xfrm>
            <a:off x="5583450" y="4036450"/>
            <a:ext cx="1459800" cy="768300"/>
          </a:xfrm>
          <a:prstGeom prst="roundRect">
            <a:avLst>
              <a:gd fmla="val 16667" name="adj"/>
            </a:avLst>
          </a:prstGeom>
          <a:noFill/>
          <a:ln>
            <a:noFill/>
          </a:ln>
        </p:spPr>
      </p:pic>
      <p:pic>
        <p:nvPicPr>
          <p:cNvPr id="142" name="Google Shape;142;p21"/>
          <p:cNvPicPr preferRelativeResize="0"/>
          <p:nvPr/>
        </p:nvPicPr>
        <p:blipFill rotWithShape="1">
          <a:blip r:embed="rId3">
            <a:alphaModFix/>
          </a:blip>
          <a:srcRect b="31300" l="2296" r="0" t="21359"/>
          <a:stretch/>
        </p:blipFill>
        <p:spPr>
          <a:xfrm>
            <a:off x="7386850" y="4036450"/>
            <a:ext cx="1459800" cy="768300"/>
          </a:xfrm>
          <a:prstGeom prst="roundRect">
            <a:avLst>
              <a:gd fmla="val 16667" name="adj"/>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2"/>
          <p:cNvSpPr txBox="1"/>
          <p:nvPr>
            <p:ph type="title"/>
          </p:nvPr>
        </p:nvSpPr>
        <p:spPr>
          <a:xfrm>
            <a:off x="311700" y="372725"/>
            <a:ext cx="8520600" cy="64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Implications on </a:t>
            </a:r>
            <a:r>
              <a:rPr lang="en"/>
              <a:t>Geography</a:t>
            </a:r>
            <a:endParaRPr/>
          </a:p>
        </p:txBody>
      </p:sp>
      <p:sp>
        <p:nvSpPr>
          <p:cNvPr id="148" name="Google Shape;148;p22"/>
          <p:cNvSpPr txBox="1"/>
          <p:nvPr>
            <p:ph idx="1" type="body"/>
          </p:nvPr>
        </p:nvSpPr>
        <p:spPr>
          <a:xfrm>
            <a:off x="311700" y="1152475"/>
            <a:ext cx="7395000" cy="22842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1600"/>
              <a:t>Areas  like the Appalachian/Piedmont region have strong air connections to Atlanta because of culture and geographic separation by the Appalachian mountains</a:t>
            </a:r>
            <a:endParaRPr sz="1600"/>
          </a:p>
          <a:p>
            <a:pPr indent="0" lvl="0" marL="0" rtl="0" algn="l">
              <a:spcBef>
                <a:spcPts val="1200"/>
              </a:spcBef>
              <a:spcAft>
                <a:spcPts val="1200"/>
              </a:spcAft>
              <a:buNone/>
            </a:pPr>
            <a:r>
              <a:rPr lang="en" sz="1600"/>
              <a:t>Similarly in the Rockies, Denver connects various cities in very close proximity because of  their geographic separation and the relatively weak ground </a:t>
            </a:r>
            <a:r>
              <a:rPr lang="en" sz="1600"/>
              <a:t>infrastructure</a:t>
            </a:r>
            <a:r>
              <a:rPr lang="en" sz="1600"/>
              <a:t> between them. These services are often subsidized by the federal government as essential to the needs of remote and rural communities</a:t>
            </a:r>
            <a:endParaRPr sz="1600"/>
          </a:p>
        </p:txBody>
      </p:sp>
      <p:pic>
        <p:nvPicPr>
          <p:cNvPr id="149" name="Google Shape;149;p22"/>
          <p:cNvPicPr preferRelativeResize="0"/>
          <p:nvPr/>
        </p:nvPicPr>
        <p:blipFill rotWithShape="1">
          <a:blip r:embed="rId3">
            <a:alphaModFix/>
          </a:blip>
          <a:srcRect b="31300" l="2296" r="0" t="21359"/>
          <a:stretch/>
        </p:blipFill>
        <p:spPr>
          <a:xfrm>
            <a:off x="173250" y="4036450"/>
            <a:ext cx="1459800" cy="768300"/>
          </a:xfrm>
          <a:prstGeom prst="roundRect">
            <a:avLst>
              <a:gd fmla="val 16667" name="adj"/>
            </a:avLst>
          </a:prstGeom>
          <a:noFill/>
          <a:ln>
            <a:noFill/>
          </a:ln>
        </p:spPr>
      </p:pic>
      <p:pic>
        <p:nvPicPr>
          <p:cNvPr id="150" name="Google Shape;150;p22"/>
          <p:cNvPicPr preferRelativeResize="0"/>
          <p:nvPr/>
        </p:nvPicPr>
        <p:blipFill rotWithShape="1">
          <a:blip r:embed="rId3">
            <a:alphaModFix/>
          </a:blip>
          <a:srcRect b="31300" l="2296" r="0" t="21359"/>
          <a:stretch/>
        </p:blipFill>
        <p:spPr>
          <a:xfrm>
            <a:off x="1976650" y="4036450"/>
            <a:ext cx="1459800" cy="768300"/>
          </a:xfrm>
          <a:prstGeom prst="roundRect">
            <a:avLst>
              <a:gd fmla="val 16667" name="adj"/>
            </a:avLst>
          </a:prstGeom>
          <a:noFill/>
          <a:ln>
            <a:noFill/>
          </a:ln>
        </p:spPr>
      </p:pic>
      <p:pic>
        <p:nvPicPr>
          <p:cNvPr id="151" name="Google Shape;151;p22"/>
          <p:cNvPicPr preferRelativeResize="0"/>
          <p:nvPr/>
        </p:nvPicPr>
        <p:blipFill rotWithShape="1">
          <a:blip r:embed="rId3">
            <a:alphaModFix/>
          </a:blip>
          <a:srcRect b="31300" l="2296" r="0" t="21359"/>
          <a:stretch/>
        </p:blipFill>
        <p:spPr>
          <a:xfrm>
            <a:off x="3780050" y="4036450"/>
            <a:ext cx="1459800" cy="768300"/>
          </a:xfrm>
          <a:prstGeom prst="roundRect">
            <a:avLst>
              <a:gd fmla="val 16667" name="adj"/>
            </a:avLst>
          </a:prstGeom>
          <a:noFill/>
          <a:ln>
            <a:noFill/>
          </a:ln>
        </p:spPr>
      </p:pic>
      <p:pic>
        <p:nvPicPr>
          <p:cNvPr id="152" name="Google Shape;152;p22"/>
          <p:cNvPicPr preferRelativeResize="0"/>
          <p:nvPr/>
        </p:nvPicPr>
        <p:blipFill rotWithShape="1">
          <a:blip r:embed="rId3">
            <a:alphaModFix/>
          </a:blip>
          <a:srcRect b="31300" l="2296" r="0" t="21359"/>
          <a:stretch/>
        </p:blipFill>
        <p:spPr>
          <a:xfrm>
            <a:off x="5583450" y="4036450"/>
            <a:ext cx="1459800" cy="768300"/>
          </a:xfrm>
          <a:prstGeom prst="roundRect">
            <a:avLst>
              <a:gd fmla="val 16667" name="adj"/>
            </a:avLst>
          </a:prstGeom>
          <a:noFill/>
          <a:ln>
            <a:noFill/>
          </a:ln>
        </p:spPr>
      </p:pic>
      <p:pic>
        <p:nvPicPr>
          <p:cNvPr id="153" name="Google Shape;153;p22"/>
          <p:cNvPicPr preferRelativeResize="0"/>
          <p:nvPr/>
        </p:nvPicPr>
        <p:blipFill rotWithShape="1">
          <a:blip r:embed="rId3">
            <a:alphaModFix/>
          </a:blip>
          <a:srcRect b="31300" l="2296" r="0" t="21359"/>
          <a:stretch/>
        </p:blipFill>
        <p:spPr>
          <a:xfrm>
            <a:off x="7386850" y="4036450"/>
            <a:ext cx="1459800" cy="768300"/>
          </a:xfrm>
          <a:prstGeom prst="roundRect">
            <a:avLst>
              <a:gd fmla="val 16667" name="adj"/>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3"/>
          <p:cNvSpPr txBox="1"/>
          <p:nvPr>
            <p:ph type="title"/>
          </p:nvPr>
        </p:nvSpPr>
        <p:spPr>
          <a:xfrm>
            <a:off x="311700" y="372725"/>
            <a:ext cx="8520600" cy="64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Implications on Culture</a:t>
            </a:r>
            <a:endParaRPr/>
          </a:p>
        </p:txBody>
      </p:sp>
      <p:sp>
        <p:nvSpPr>
          <p:cNvPr id="159" name="Google Shape;159;p23"/>
          <p:cNvSpPr txBox="1"/>
          <p:nvPr>
            <p:ph idx="1" type="body"/>
          </p:nvPr>
        </p:nvSpPr>
        <p:spPr>
          <a:xfrm>
            <a:off x="311700" y="1152475"/>
            <a:ext cx="7395000" cy="2567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1600"/>
              <a:t>Los Angeles being the dominant hub among California airports and the Southwest is due to its unique cultural identity. With a very high hispanic population, L.A is demographically very similar to other southwestern cities. Historically being the frontier of both the Spanish and Mexican empires, this unites the region.</a:t>
            </a:r>
            <a:endParaRPr sz="1600"/>
          </a:p>
          <a:p>
            <a:pPr indent="0" lvl="0" marL="0" rtl="0" algn="l">
              <a:spcBef>
                <a:spcPts val="1200"/>
              </a:spcBef>
              <a:spcAft>
                <a:spcPts val="1200"/>
              </a:spcAft>
              <a:buNone/>
            </a:pPr>
            <a:r>
              <a:rPr lang="en" sz="1600"/>
              <a:t>The role L.A plays in the state of California is being a focal point for commerce and international access. With large inland cities and political power located in central California like Fresno and Sacramento, their ties to L.A and its economic power are vital to the unity of the state.</a:t>
            </a:r>
            <a:endParaRPr sz="1600"/>
          </a:p>
        </p:txBody>
      </p:sp>
      <p:pic>
        <p:nvPicPr>
          <p:cNvPr id="160" name="Google Shape;160;p23"/>
          <p:cNvPicPr preferRelativeResize="0"/>
          <p:nvPr/>
        </p:nvPicPr>
        <p:blipFill rotWithShape="1">
          <a:blip r:embed="rId3">
            <a:alphaModFix/>
          </a:blip>
          <a:srcRect b="31300" l="2296" r="0" t="21359"/>
          <a:stretch/>
        </p:blipFill>
        <p:spPr>
          <a:xfrm>
            <a:off x="173250" y="4036450"/>
            <a:ext cx="1459800" cy="768300"/>
          </a:xfrm>
          <a:prstGeom prst="roundRect">
            <a:avLst>
              <a:gd fmla="val 16667" name="adj"/>
            </a:avLst>
          </a:prstGeom>
          <a:noFill/>
          <a:ln>
            <a:noFill/>
          </a:ln>
        </p:spPr>
      </p:pic>
      <p:pic>
        <p:nvPicPr>
          <p:cNvPr id="161" name="Google Shape;161;p23"/>
          <p:cNvPicPr preferRelativeResize="0"/>
          <p:nvPr/>
        </p:nvPicPr>
        <p:blipFill rotWithShape="1">
          <a:blip r:embed="rId3">
            <a:alphaModFix/>
          </a:blip>
          <a:srcRect b="31300" l="2296" r="0" t="21359"/>
          <a:stretch/>
        </p:blipFill>
        <p:spPr>
          <a:xfrm>
            <a:off x="1976650" y="4036450"/>
            <a:ext cx="1459800" cy="768300"/>
          </a:xfrm>
          <a:prstGeom prst="roundRect">
            <a:avLst>
              <a:gd fmla="val 16667" name="adj"/>
            </a:avLst>
          </a:prstGeom>
          <a:noFill/>
          <a:ln>
            <a:noFill/>
          </a:ln>
        </p:spPr>
      </p:pic>
      <p:pic>
        <p:nvPicPr>
          <p:cNvPr id="162" name="Google Shape;162;p23"/>
          <p:cNvPicPr preferRelativeResize="0"/>
          <p:nvPr/>
        </p:nvPicPr>
        <p:blipFill rotWithShape="1">
          <a:blip r:embed="rId3">
            <a:alphaModFix/>
          </a:blip>
          <a:srcRect b="31300" l="2296" r="0" t="21359"/>
          <a:stretch/>
        </p:blipFill>
        <p:spPr>
          <a:xfrm>
            <a:off x="3780050" y="4036450"/>
            <a:ext cx="1459800" cy="768300"/>
          </a:xfrm>
          <a:prstGeom prst="roundRect">
            <a:avLst>
              <a:gd fmla="val 16667" name="adj"/>
            </a:avLst>
          </a:prstGeom>
          <a:noFill/>
          <a:ln>
            <a:noFill/>
          </a:ln>
        </p:spPr>
      </p:pic>
      <p:pic>
        <p:nvPicPr>
          <p:cNvPr id="163" name="Google Shape;163;p23"/>
          <p:cNvPicPr preferRelativeResize="0"/>
          <p:nvPr/>
        </p:nvPicPr>
        <p:blipFill rotWithShape="1">
          <a:blip r:embed="rId3">
            <a:alphaModFix/>
          </a:blip>
          <a:srcRect b="31300" l="2296" r="0" t="21359"/>
          <a:stretch/>
        </p:blipFill>
        <p:spPr>
          <a:xfrm>
            <a:off x="5583450" y="4036450"/>
            <a:ext cx="1459800" cy="768300"/>
          </a:xfrm>
          <a:prstGeom prst="roundRect">
            <a:avLst>
              <a:gd fmla="val 16667" name="adj"/>
            </a:avLst>
          </a:prstGeom>
          <a:noFill/>
          <a:ln>
            <a:noFill/>
          </a:ln>
        </p:spPr>
      </p:pic>
      <p:pic>
        <p:nvPicPr>
          <p:cNvPr id="164" name="Google Shape;164;p23"/>
          <p:cNvPicPr preferRelativeResize="0"/>
          <p:nvPr/>
        </p:nvPicPr>
        <p:blipFill rotWithShape="1">
          <a:blip r:embed="rId3">
            <a:alphaModFix/>
          </a:blip>
          <a:srcRect b="31300" l="2296" r="0" t="21359"/>
          <a:stretch/>
        </p:blipFill>
        <p:spPr>
          <a:xfrm>
            <a:off x="7386850" y="4036450"/>
            <a:ext cx="1459800" cy="768300"/>
          </a:xfrm>
          <a:prstGeom prst="roundRect">
            <a:avLst>
              <a:gd fmla="val 16667" name="adj"/>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lue &amp; Gold">
  <a:themeElements>
    <a:clrScheme name="Blue &amp; Gold">
      <a:dk1>
        <a:srgbClr val="FFFFFF"/>
      </a:dk1>
      <a:lt1>
        <a:srgbClr val="01AFD1"/>
      </a:lt1>
      <a:dk2>
        <a:srgbClr val="1E2D31"/>
      </a:dk2>
      <a:lt2>
        <a:srgbClr val="BFC7CA"/>
      </a:lt2>
      <a:accent1>
        <a:srgbClr val="006F85"/>
      </a:accent1>
      <a:accent2>
        <a:srgbClr val="AF4345"/>
      </a:accent2>
      <a:accent3>
        <a:srgbClr val="47D06A"/>
      </a:accent3>
      <a:accent4>
        <a:srgbClr val="F58F8F"/>
      </a:accent4>
      <a:accent5>
        <a:srgbClr val="F6CD4C"/>
      </a:accent5>
      <a:accent6>
        <a:srgbClr val="F8E71C"/>
      </a:accent6>
      <a:hlink>
        <a:srgbClr val="F6CD4C"/>
      </a:hlink>
      <a:folHlink>
        <a:srgbClr val="F6CD4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